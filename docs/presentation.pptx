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2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9144000" cy="5143500" type="screen16x9"/>
  <p:notesSz cx="6858000" cy="9144000"/>
  <p:embeddedFontLst>
    <p:embeddedFont>
      <p:font typeface="Proxima Nova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480060" y="1371600"/>
            <a:ext cx="5897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500" b="1" i="0">
                <a:solidFill>
                  <a:srgbClr val="5302E0"/>
                </a:solidFill>
                <a:latin typeface="Proxima Nova"/>
              </a:rPr>
              <a:t>Научный клубок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" y="2228850"/>
            <a:ext cx="5897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 i="0">
                <a:solidFill>
                  <a:srgbClr val="2A2D33"/>
                </a:solidFill>
                <a:latin typeface="Proxima Nova"/>
              </a:rPr>
              <a:t>Карта знаний R&amp;D · горно-металлургические исследования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" y="2777490"/>
            <a:ext cx="603504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72"/>
                </a:solidFill>
                <a:latin typeface="Proxima Nova"/>
              </a:rPr>
              <a:t>GraphRAG: граф знаний (Neo4j) + гибридный семантический поиск + LLM-слой с цитатами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" y="4526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75" b="0" i="0">
                <a:solidFill>
                  <a:srgbClr val="8A929E"/>
                </a:solidFill>
                <a:latin typeface="Proxima Nova"/>
              </a:rPr>
              <a:t>Кейс «Единая карта знаний R&amp;D» · июль 2026</a:t>
            </a:r>
          </a:p>
        </p:txBody>
      </p:sp>
      <p:sp>
        <p:nvSpPr>
          <p:cNvPr id="26" name="TeamName"/>
          <p:cNvSpPr txBox="1"/>
          <p:nvPr/>
        </p:nvSpPr>
        <p:spPr>
          <a:xfrm>
            <a:off x="484632" y="3913632"/>
            <a:ext cx="5486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r>
              <a:rPr sz="1400" b="0">
                <a:solidFill>
                  <a:srgbClr val="8A929E"/>
                </a:solidFill>
                <a:latin typeface="Proxima Nova"/>
              </a:rPr>
              <a:t>Команда </a:t>
            </a:r>
            <a:r>
              <a:rPr sz="1500" b="1">
                <a:solidFill>
                  <a:srgbClr val="5302E0"/>
                </a:solidFill>
                <a:latin typeface="Proxima Nova"/>
              </a:rPr>
              <a:t>«Колытян груп»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Проблема: знания R&amp;D рассеяны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институциональная память живёт в отчётах, презентациях и личных архивах — и не переиспользуется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6586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82930" y="135788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89" y="137160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Потеря памяти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1737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методы обессоливания, циркуляция католита, распределение драгметаллов — в сотнях несвязанных файлов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7550" y="116586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29000" y="135788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9060" y="137160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Дублирование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1737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команды заново делают литобзоры по очистке шахтных вод и удалению SO₂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3620" y="116586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75070" y="135788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5130" y="137160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Нет связей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5070" y="181737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не найти связь «кучное выщелачивание в холодном климате» → «выход металла»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1465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2930" y="310667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989" y="312039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Медленные решения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930" y="356616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ответ про мировую практику подачи электролита = недели ручного поиска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7550" y="291465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29000" y="310667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9060" y="312039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Противоречия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56616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нет верифицированной базы — конфликты интерпретаций (скорость циркуляции католита)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3620" y="2914650"/>
            <a:ext cx="2708910" cy="15773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75070" y="3106674"/>
            <a:ext cx="342900" cy="342900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5130" y="3120390"/>
            <a:ext cx="1920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75" b="1" i="0">
                <a:solidFill>
                  <a:srgbClr val="2A2D33"/>
                </a:solidFill>
                <a:latin typeface="Proxima Nova"/>
              </a:rPr>
              <a:t>Носители экспертизы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5070" y="3566160"/>
            <a:ext cx="23660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неясно, кто в организации уже работал с аналогичной задачей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Решение: GraphRAG над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три слоя над единым хранилищем Neo4j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31570"/>
            <a:ext cx="2777490" cy="24688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7219" y="1337310"/>
            <a:ext cx="2400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302E0"/>
                </a:solidFill>
                <a:latin typeface="Proxima Nova"/>
              </a:rPr>
              <a:t>Граф знаний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19" y="1659636"/>
            <a:ext cx="240030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скелет связей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19" y="1954530"/>
            <a:ext cx="2400300" cy="157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13 типов узлов: материалы, процессы, оборудование, предприятия, измерения, выводы, эксперты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provenance каждого факта: документ, страница/слайд, модель, уверенность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RU/EN-синонимы: «ПВП» ≡ «flash furnace»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0419" y="1131570"/>
            <a:ext cx="2777490" cy="24688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9" y="1337310"/>
            <a:ext cx="2400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302E0"/>
                </a:solidFill>
                <a:latin typeface="Proxima Nova"/>
              </a:rPr>
              <a:t>Гибридный поиск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59" y="1659636"/>
            <a:ext cx="240030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семантика + термины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59" y="1954530"/>
            <a:ext cx="2400300" cy="157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векторный индекс (локальные эмбеддинги, RU/EN) ловит перефразировки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BM25 с русским анализатором ловит марки и формулы: «12Х18Н10Т», «SO₂»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слияние Reciprocal Rank Fusion, фильтры: категория, язык, годы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31570"/>
            <a:ext cx="2777490" cy="24688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5100" y="1337310"/>
            <a:ext cx="2400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302E0"/>
                </a:solidFill>
                <a:latin typeface="Proxima Nova"/>
              </a:rPr>
              <a:t>LLM-слой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1659636"/>
            <a:ext cx="240030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75" b="0" i="0">
                <a:solidFill>
                  <a:srgbClr val="5A6472"/>
                </a:solidFill>
                <a:latin typeface="Proxima Nova"/>
              </a:rPr>
              <a:t>вопрос → ответ с цитатами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1954530"/>
            <a:ext cx="2400300" cy="157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разбор вопроса в фильтры («за 5 лет» → 2021–2026)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сводка, где каждое утверждение подкреплено [n]-цитатой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938" b="0" i="0">
                <a:solidFill>
                  <a:srgbClr val="2A2D33"/>
                </a:solidFill>
                <a:latin typeface="Proxima Nova"/>
              </a:rPr>
              <a:t>выделение расхождений источников и пробелов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06190"/>
            <a:ext cx="4183380" cy="92583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" y="394335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5302E0"/>
                </a:solidFill>
                <a:latin typeface="Proxima Nova"/>
              </a:rPr>
              <a:t>Инвариант 1 · </a:t>
            </a:r>
            <a:r>
              <a:rPr sz="1050" b="1" i="0">
                <a:solidFill>
                  <a:srgbClr val="2A2D33"/>
                </a:solidFill>
                <a:latin typeface="Proxima Nova"/>
              </a:rPr>
              <a:t>«нет источника — нет факта»</a:t>
            </a:r>
          </a:p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каждый факт в графе ссылается на документ и страницу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6310" y="3806190"/>
            <a:ext cx="3943350" cy="92583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2050" y="3943350"/>
            <a:ext cx="36347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5302E0"/>
                </a:solidFill>
                <a:latin typeface="Proxima Nova"/>
              </a:rPr>
              <a:t>Инвариант 2 · </a:t>
            </a:r>
            <a:r>
              <a:rPr sz="1050" b="1" i="0">
                <a:solidFill>
                  <a:srgbClr val="2A2D33"/>
                </a:solidFill>
                <a:latin typeface="Proxima Nova"/>
              </a:rPr>
              <a:t>верификация</a:t>
            </a:r>
          </a:p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новые сущности и выводы из текстов идут в очередь эксперта (needs_review)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Онтология предметной 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13 типов узлов, ключевые связи — с provenance на рёбрах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00150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2476" y="1200150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33472" y="1200150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Equipment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4468" y="1200150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Facility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25346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2476" y="1625346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Chunk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1625346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4468" y="1625346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Measurement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50542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Conclusion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2476" y="2050542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Experiment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2050542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Regime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4468" y="2050542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Person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75738"/>
            <a:ext cx="1028700" cy="3154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2A2D33"/>
                </a:solidFill>
                <a:latin typeface="Proxima Nova"/>
              </a:rPr>
              <a:t>TopicTag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12039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2A2D33"/>
                </a:solidFill>
                <a:latin typeface="Proxima Nova"/>
              </a:rPr>
              <a:t>Ключевые связи:</a:t>
            </a:r>
          </a:p>
          <a:p>
            <a:pPr algn="l">
              <a:spcAft>
                <a:spcPts val="7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Document —MENTIONS→ Material / Process / Equipment / Facility</a:t>
            </a:r>
          </a:p>
          <a:p>
            <a:pPr algn="l">
              <a:spcAft>
                <a:spcPts val="7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Document —REPORTS→ Measurement —OF_PROPERTY→ Property</a:t>
            </a:r>
          </a:p>
          <a:p>
            <a:pPr algn="l">
              <a:spcAft>
                <a:spcPts val="7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Conclusion —DESCRIBED_IN→ Document, —ABOUT→ сущность</a:t>
            </a:r>
          </a:p>
          <a:p>
            <a:pPr algn="l">
              <a:spcAft>
                <a:spcPts val="7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Document —AUTHORED_BY→ Person, —TAGGED→ TopicTag</a:t>
            </a:r>
          </a:p>
          <a:p>
            <a:pPr algn="l">
              <a:spcAft>
                <a:spcPts val="7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Measurement.conditions: параметр / оператор / диапазон («сульфаты ≤ 300 мг/л»)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623559" y="1419606"/>
            <a:ext cx="1268731" cy="89154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92290" y="1419606"/>
            <a:ext cx="17145" cy="123444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92290" y="1419606"/>
            <a:ext cx="1405890" cy="89154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98180" y="2311146"/>
            <a:ext cx="51435" cy="1028699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00750" y="1419606"/>
            <a:ext cx="891540" cy="212598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623559" y="2311146"/>
            <a:ext cx="377191" cy="123444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92290" y="1419606"/>
            <a:ext cx="1337310" cy="6858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77940" y="1234440"/>
            <a:ext cx="1028700" cy="370332"/>
          </a:xfrm>
          <a:prstGeom prst="roundRect">
            <a:avLst>
              <a:gd name="adj" fmla="val 50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2125980"/>
            <a:ext cx="960120" cy="370332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Material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468880"/>
            <a:ext cx="925830" cy="370332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Process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9540" y="2125980"/>
            <a:ext cx="1097280" cy="37033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Measurement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3360420"/>
            <a:ext cx="1028700" cy="37033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Conclusion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303020"/>
            <a:ext cx="822960" cy="37033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Person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6700" y="3154680"/>
            <a:ext cx="925830" cy="370332"/>
          </a:xfrm>
          <a:prstGeom prst="roundRect">
            <a:avLst>
              <a:gd name="adj" fmla="val 50000"/>
            </a:avLst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roxima Nova"/>
              </a:rPr>
              <a:t>Property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Конвейер: от папки с документами до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все шаги возобновляемы; LLM-провайдер подключаемый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190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918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Корпус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202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PDF·DOCX·PPTX·XLS +OCR · 4,5 ГБ · 1 965 документов · RU/EN · 2001–2026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14500" y="2345436"/>
            <a:ext cx="130302" cy="150876"/>
          </a:xfrm>
          <a:prstGeom prst="rightArrow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37943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47672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skg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3956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текст с привязкой к страницам/слайдам → Document + Chunk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5254" y="2345436"/>
            <a:ext cx="130302" cy="150876"/>
          </a:xfrm>
          <a:prstGeom prst="rightArrow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8698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8426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skg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09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локальные эмбеддинги (fastembed ONNX, RU/EN), векторный индекс + BM25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36008" y="2345436"/>
            <a:ext cx="130302" cy="150876"/>
          </a:xfrm>
          <a:prstGeom prst="rightArrow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59452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9180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skg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3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LLM по онтологии (Yandex AI Studio), нормализация, needs_review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96761" y="2345436"/>
            <a:ext cx="130302" cy="150876"/>
          </a:xfrm>
          <a:prstGeom prst="rightArrow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0206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9934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Слой запросов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6218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вопрос → фильтры → гибридный поиск → сводка с цитатами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57516" y="2345436"/>
            <a:ext cx="130302" cy="150876"/>
          </a:xfrm>
          <a:prstGeom prst="rightArrow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80960" y="1577340"/>
            <a:ext cx="1337310" cy="171450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0688" y="1714500"/>
            <a:ext cx="113157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25" b="1" i="0">
                <a:solidFill>
                  <a:srgbClr val="5302E0"/>
                </a:solidFill>
                <a:latin typeface="Proxima Nova"/>
              </a:rPr>
              <a:t>Веб-UI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6972" y="2160270"/>
            <a:ext cx="1152144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62" b="0" i="0">
                <a:solidFill>
                  <a:srgbClr val="2A2D33"/>
                </a:solidFill>
                <a:latin typeface="Proxima Nova"/>
              </a:rPr>
              <a:t>ответ и источники, граф, пробелы, экспорт Markdown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669030"/>
            <a:ext cx="82981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A2D33"/>
                </a:solidFill>
                <a:latin typeface="Proxima Nova"/>
              </a:rPr>
              <a:t>Хранилище — Neo4j: </a:t>
            </a:r>
            <a:r>
              <a:rPr sz="1050" b="0" i="0">
                <a:solidFill>
                  <a:srgbClr val="5A6472"/>
                </a:solidFill>
                <a:latin typeface="Proxima Nova"/>
              </a:rPr>
              <a:t>граф, векторный индекс и полнотекстовый поиск в одной БД — без отдельного поискового движка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114800"/>
            <a:ext cx="829818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A2D33"/>
                </a:solidFill>
                <a:latin typeface="Proxima Nova"/>
              </a:rPr>
              <a:t>Отказоустойчивость: битые файлы не валят импорт (отклонённые — с диагностикой), сканы читаются через OCR (Tesseract rus+eng); ошибки LLM ретраятся, невалидный JSON — повторный запрос; упавшие чанки добираются повторным прогоном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Демо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·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вопрос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из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ТЗ →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ответ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с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цитатами</a:t>
            </a:r>
            <a:endParaRPr sz="2400" b="1" i="0" dirty="0">
              <a:solidFill>
                <a:srgbClr val="2A2D33"/>
              </a:solidFill>
              <a:latin typeface="Proxima Nov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«какие решения циркуляции католита при электроэкстракции никеля описаны в мировой практике?»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00150"/>
            <a:ext cx="5554980" cy="34975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7220" y="1371600"/>
            <a:ext cx="514350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75" b="0" i="0">
                <a:solidFill>
                  <a:srgbClr val="2A2D33"/>
                </a:solidFill>
                <a:latin typeface="Proxima Nova"/>
              </a:rPr>
              <a:t>Применяются: разделение катодного и анодного пространства диафрагмой и регулирование подачи католита для поддержания перепада уровня между католитом и анолитом.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75" b="0" i="0">
                <a:solidFill>
                  <a:srgbClr val="2A2D33"/>
                </a:solidFill>
                <a:latin typeface="Proxima Nova"/>
              </a:rPr>
              <a:t>С ростом скорости от 0,5 до 4,9 л/мин шероховатость катодной меди снижается с 6,86 до 2,97 мкм </a:t>
            </a:r>
            <a:r>
              <a:rPr sz="975" b="1" i="0">
                <a:solidFill>
                  <a:srgbClr val="5302E0"/>
                </a:solidFill>
                <a:latin typeface="Proxima Nova"/>
              </a:rPr>
              <a:t>[2]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75" b="0" i="0">
                <a:solidFill>
                  <a:srgbClr val="2A2D33"/>
                </a:solidFill>
                <a:latin typeface="Proxima Nova"/>
              </a:rPr>
              <a:t>Контроль скорости — для положительного гидростатического напора в катодном мешке и снижения массопереноса ионов водорода </a:t>
            </a:r>
            <a:r>
              <a:rPr sz="975" b="1" i="0">
                <a:solidFill>
                  <a:srgbClr val="5302E0"/>
                </a:solidFill>
                <a:latin typeface="Proxima Nova"/>
              </a:rPr>
              <a:t>[4]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75" b="0" i="0">
                <a:solidFill>
                  <a:srgbClr val="2A2D33"/>
                </a:solidFill>
                <a:latin typeface="Proxima Nova"/>
              </a:rPr>
              <a:t>При плотности тока 250 А/м² скорость циркуляции — 25 дм³/А·ч </a:t>
            </a:r>
            <a:r>
              <a:rPr sz="975" b="1" i="0">
                <a:solidFill>
                  <a:srgbClr val="5302E0"/>
                </a:solidFill>
                <a:latin typeface="Proxima Nova"/>
              </a:rPr>
              <a:t>[5]</a:t>
            </a:r>
            <a:r>
              <a:rPr sz="975" b="0" i="0">
                <a:solidFill>
                  <a:srgbClr val="2A2D33"/>
                </a:solidFill>
                <a:latin typeface="Proxima Nova"/>
              </a:rPr>
              <a:t>;  типовая скорость 20–30 л/ч </a:t>
            </a:r>
            <a:r>
              <a:rPr sz="975" b="1" i="0">
                <a:solidFill>
                  <a:srgbClr val="5302E0"/>
                </a:solidFill>
                <a:latin typeface="Proxima Nova"/>
              </a:rPr>
              <a:t>[6]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75" b="1" i="0">
                <a:solidFill>
                  <a:srgbClr val="2A2D33"/>
                </a:solidFill>
                <a:latin typeface="Proxima Nova"/>
              </a:rPr>
              <a:t>Пробелы/что уточнить: </a:t>
            </a:r>
            <a:r>
              <a:rPr sz="975" b="0" i="0">
                <a:solidFill>
                  <a:srgbClr val="5A6472"/>
                </a:solidFill>
                <a:latin typeface="Proxima Nova"/>
              </a:rPr>
              <a:t>влияние скорости потока на эффективность электроэкстракции освещено слабо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7909" y="1200150"/>
            <a:ext cx="2606040" cy="78867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296162"/>
            <a:ext cx="22974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2" b="1" i="0">
                <a:solidFill>
                  <a:srgbClr val="2A2D33"/>
                </a:solidFill>
                <a:latin typeface="Proxima Nova"/>
              </a:rPr>
              <a:t>Числа — точно из источника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5346"/>
            <a:ext cx="229743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5A6472"/>
                </a:solidFill>
                <a:latin typeface="Proxima Nova"/>
              </a:rPr>
              <a:t>концентрации и скорости не «сочиняются»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7909" y="2105406"/>
            <a:ext cx="2606040" cy="78867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201418"/>
            <a:ext cx="22974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2" b="1" i="0">
                <a:solidFill>
                  <a:srgbClr val="2A2D33"/>
                </a:solidFill>
                <a:latin typeface="Proxima Nova"/>
              </a:rPr>
              <a:t>Клик по [n] — фрагмент и контекст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30602"/>
            <a:ext cx="229743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5A6472"/>
                </a:solidFill>
                <a:latin typeface="Proxima Nova"/>
              </a:rPr>
              <a:t>±2 соседних чанка, путь к файлу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7909" y="3010662"/>
            <a:ext cx="2606040" cy="78867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3106674"/>
            <a:ext cx="22974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2" b="1" i="0">
                <a:solidFill>
                  <a:srgbClr val="2A2D33"/>
                </a:solidFill>
                <a:latin typeface="Proxima Nova"/>
              </a:rPr>
              <a:t>Фильтры из вопроса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35858"/>
            <a:ext cx="229743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5A6472"/>
                </a:solidFill>
                <a:latin typeface="Proxima Nova"/>
              </a:rPr>
              <a:t>«за последние 5 лет» → 2021–2026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7909" y="3915918"/>
            <a:ext cx="2606040" cy="788670"/>
          </a:xfrm>
          <a:prstGeom prst="roundRect">
            <a:avLst>
              <a:gd name="adj" fmla="val 9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011930"/>
            <a:ext cx="22974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2" b="1" i="0">
                <a:solidFill>
                  <a:srgbClr val="2A2D33"/>
                </a:solidFill>
                <a:latin typeface="Proxima Nova"/>
              </a:rPr>
              <a:t>Экспорт в Markdown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41114"/>
            <a:ext cx="229743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5A6472"/>
                </a:solidFill>
                <a:latin typeface="Proxima Nova"/>
              </a:rPr>
              <a:t>готовый фрагмент для отчёта/ТЗ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Демо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·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граф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,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пробелы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,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очередь</a:t>
            </a:r>
            <a:r>
              <a:rPr sz="2400" b="1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2400" b="1" i="0" dirty="0" err="1">
                <a:solidFill>
                  <a:srgbClr val="2A2D33"/>
                </a:solidFill>
                <a:latin typeface="Proxima Nova"/>
              </a:rPr>
              <a:t>эксперта</a:t>
            </a:r>
            <a:endParaRPr sz="2400" b="1" i="0" dirty="0">
              <a:solidFill>
                <a:srgbClr val="2A2D33"/>
              </a:solidFill>
              <a:latin typeface="Proxima Nov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98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A6472"/>
                </a:solidFill>
                <a:latin typeface="Proxima Nova"/>
              </a:rPr>
              <a:t>окрестность сущности · тепловая карта «материал × процесс» · needs_review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65860"/>
            <a:ext cx="4046220" cy="35661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7220" y="1316736"/>
            <a:ext cx="36347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Граф: «электроэкстракция» — 52 документа, 138 связанных сущностей</a:t>
            </a:r>
            <a:endParaRPr sz="1050" b="1" i="0" dirty="0">
              <a:solidFill>
                <a:srgbClr val="2A2D33"/>
              </a:solidFill>
              <a:latin typeface="Proxima Nova"/>
            </a:endParaRP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097280" y="2023110"/>
            <a:ext cx="1440180" cy="61722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200150" y="2640330"/>
            <a:ext cx="1337310" cy="89154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537460" y="1920240"/>
            <a:ext cx="994410" cy="72009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37460" y="2640330"/>
            <a:ext cx="1062990" cy="116586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4410" y="2640330"/>
            <a:ext cx="1543050" cy="13716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37460" y="2640330"/>
            <a:ext cx="102870" cy="1474470"/>
          </a:xfrm>
          <a:prstGeom prst="line">
            <a:avLst/>
          </a:prstGeom>
          <a:ln w="12700">
            <a:solidFill>
              <a:srgbClr val="8A9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51660" y="2468880"/>
            <a:ext cx="1371600" cy="342900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электроэкстракция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51660"/>
            <a:ext cx="822960" cy="342900"/>
          </a:xfrm>
          <a:prstGeom prst="roundRect">
            <a:avLst>
              <a:gd name="adj" fmla="val 50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никель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670" y="3360420"/>
            <a:ext cx="822960" cy="342900"/>
          </a:xfrm>
          <a:prstGeom prst="roundRect">
            <a:avLst>
              <a:gd name="adj" fmla="val 50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железо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748790"/>
            <a:ext cx="1303020" cy="342900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цинк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634740"/>
            <a:ext cx="891540" cy="342900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флотация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10" y="2606040"/>
            <a:ext cx="685800" cy="342900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медь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3943350"/>
            <a:ext cx="1165860" cy="342900"/>
          </a:xfrm>
          <a:prstGeom prst="roundRect">
            <a:avLst>
              <a:gd name="adj" fmla="val 50000"/>
            </a:avLst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Proxima Nova"/>
              </a:rPr>
              <a:t>электролиз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7730" y="1165860"/>
            <a:ext cx="4046220" cy="24003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3470" y="1316736"/>
            <a:ext cx="36347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Пробелы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: </a:t>
            </a: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документов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на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пару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 «</a:t>
            </a: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материал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 × </a:t>
            </a:r>
            <a:r>
              <a:rPr sz="1050" b="1" i="0" dirty="0" err="1">
                <a:solidFill>
                  <a:srgbClr val="2A2D33"/>
                </a:solidFill>
                <a:latin typeface="Proxima Nova"/>
              </a:rPr>
              <a:t>процесс</a:t>
            </a:r>
            <a:r>
              <a:rPr sz="1050" b="1" i="0" dirty="0">
                <a:solidFill>
                  <a:srgbClr val="2A2D33"/>
                </a:solidFill>
                <a:latin typeface="Proxima Nova"/>
              </a:rPr>
              <a:t>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611630"/>
            <a:ext cx="6858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12" b="0" i="0">
                <a:solidFill>
                  <a:srgbClr val="5A6472"/>
                </a:solidFill>
                <a:latin typeface="Proxima Nova"/>
              </a:rPr>
              <a:t>выщелач.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7396" y="1611630"/>
            <a:ext cx="6858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12" b="0" i="0">
                <a:solidFill>
                  <a:srgbClr val="5A6472"/>
                </a:solidFill>
                <a:latin typeface="Proxima Nova"/>
              </a:rPr>
              <a:t>электроэкстр.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1611630"/>
            <a:ext cx="6858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12" b="0" i="0">
                <a:solidFill>
                  <a:srgbClr val="5A6472"/>
                </a:solidFill>
                <a:latin typeface="Proxima Nova"/>
              </a:rPr>
              <a:t>флотация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6428" y="1611630"/>
            <a:ext cx="6858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12" b="0" i="0">
                <a:solidFill>
                  <a:srgbClr val="5A6472"/>
                </a:solidFill>
                <a:latin typeface="Proxima Nova"/>
              </a:rPr>
              <a:t>обжиг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3470" y="1865376"/>
            <a:ext cx="9601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88" b="0" i="0">
                <a:solidFill>
                  <a:srgbClr val="5A6472"/>
                </a:solidFill>
                <a:latin typeface="Proxima Nova"/>
              </a:rPr>
              <a:t>никель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1595" y="1837944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193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1" y="1837944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48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0628" y="1837944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196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1837944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3470" y="2249424"/>
            <a:ext cx="9601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88" b="0" i="0">
                <a:solidFill>
                  <a:srgbClr val="5A6472"/>
                </a:solidFill>
                <a:latin typeface="Proxima Nova"/>
              </a:rPr>
              <a:t>медь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11595" y="2221992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238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11111" y="2221992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49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0628" y="2221992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243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2221992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3470" y="2633472"/>
            <a:ext cx="9601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88" b="0" i="0">
                <a:solidFill>
                  <a:srgbClr val="5A6472"/>
                </a:solidFill>
                <a:latin typeface="Proxima Nova"/>
              </a:rPr>
              <a:t>золото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11595" y="2606040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162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11111" y="2606040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F3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B02818"/>
                </a:solidFill>
              </a:rPr>
              <a:t>27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0628" y="2606040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180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2606040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3470" y="3017520"/>
            <a:ext cx="9601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88" b="0" i="0">
                <a:solidFill>
                  <a:srgbClr val="5A6472"/>
                </a:solidFill>
                <a:latin typeface="Proxima Nova"/>
              </a:rPr>
              <a:t>гипс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1595" y="2990088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34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1111" y="2990088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F3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B02818"/>
                </a:solidFill>
              </a:rPr>
              <a:t>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0628" y="2990088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F3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B02818"/>
                </a:solidFill>
              </a:rPr>
              <a:t>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2990088"/>
            <a:ext cx="630936" cy="329184"/>
          </a:xfrm>
          <a:prstGeom prst="roundRect">
            <a:avLst>
              <a:gd name="adj" fmla="val 15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2A2D33"/>
                </a:solidFill>
              </a:rPr>
              <a:t>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3470" y="3360420"/>
            <a:ext cx="37033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25" b="0" i="0">
                <a:solidFill>
                  <a:srgbClr val="5A6472"/>
                </a:solidFill>
                <a:latin typeface="Proxima Nova"/>
              </a:rPr>
              <a:t>тёмные клетки — наименее изученные пары → кандидаты на НИР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97730" y="3669030"/>
            <a:ext cx="4046220" cy="106299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03470" y="3806190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12" b="1" i="0">
                <a:solidFill>
                  <a:srgbClr val="2A2D33"/>
                </a:solidFill>
                <a:latin typeface="Proxima Nova"/>
              </a:rPr>
              <a:t>Очередь эксперта: </a:t>
            </a:r>
            <a:r>
              <a:rPr sz="938" b="0" i="0">
                <a:solidFill>
                  <a:srgbClr val="5A6472"/>
                </a:solidFill>
                <a:latin typeface="Proxima Nova"/>
              </a:rPr>
              <a:t>все сущности и выводы, впервые извлечённые из текстов, помечены needs_review</a:t>
            </a:r>
          </a:p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эксперт подтверждает или правит — дата и автор фиксируются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oxima Nova"/>
              </a:rPr>
              <a:t>Система</a:t>
            </a:r>
            <a:r>
              <a:rPr sz="24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oxima Nova"/>
              </a:rPr>
              <a:t> в </a:t>
            </a:r>
            <a:r>
              <a:rPr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oxima Nova"/>
              </a:rPr>
              <a:t>цифрах</a:t>
            </a:r>
            <a:endParaRPr sz="2400" b="1" i="0" dirty="0">
              <a:solidFill>
                <a:schemeClr val="tx1">
                  <a:lumMod val="85000"/>
                  <a:lumOff val="15000"/>
                </a:schemeClr>
              </a:solidFill>
              <a:latin typeface="Proxima Nov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995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8A929E"/>
                </a:solidFill>
                <a:latin typeface="Proxima Nova"/>
              </a:rPr>
              <a:t>реальный корпус кейса, обработан локально + Yandex AI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00150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7219" y="137160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1 965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19" y="19888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документов импортировано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19" y="229743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B9C0CA"/>
                </a:solidFill>
                <a:latin typeface="Proxima Nova"/>
              </a:rPr>
              <a:t>PDF/DOCX/PPTX/XLS · 5 категорий · 2001–2026 · RU/EN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200150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1869" y="137160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377 355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1869" y="19888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фрагментов в графе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1869" y="229743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B9C0CA"/>
                </a:solidFill>
                <a:latin typeface="Proxima Nova"/>
              </a:rPr>
              <a:t>с привязкой к странице/слайду; вектор + BM25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200150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100 000+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888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измерений с условиями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9743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B9C0CA"/>
                </a:solidFill>
                <a:latin typeface="Proxima Nova"/>
              </a:rPr>
              <a:t>значение · единица · диапазон · условия процесса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83229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19" y="315468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20 000+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" y="37719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выводов с географией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" y="4080509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B9C0CA"/>
                </a:solidFill>
                <a:latin typeface="Proxima Nova"/>
              </a:rPr>
              <a:t>РФ/зарубежная практика, уверенность, источник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6130" y="2983229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1869" y="315468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67 000+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1869" y="37719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сущностей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1869" y="4080509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>
                <a:solidFill>
                  <a:srgbClr val="B9C0CA"/>
                </a:solidFill>
                <a:latin typeface="Proxima Nova"/>
              </a:rPr>
              <a:t>материалы · процессы · оборудование · предприятия · эксперты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2983229"/>
            <a:ext cx="2743200" cy="1577340"/>
          </a:xfrm>
          <a:prstGeom prst="roundRect">
            <a:avLst>
              <a:gd name="adj" fmla="val 8000"/>
            </a:avLst>
          </a:prstGeom>
          <a:solidFill>
            <a:srgbClr val="35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154680"/>
            <a:ext cx="233172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302E0"/>
                </a:solidFill>
                <a:latin typeface="Proxima Nova"/>
              </a:rPr>
              <a:t>~3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719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1" i="0">
                <a:solidFill>
                  <a:srgbClr val="FFFFFF"/>
                </a:solidFill>
                <a:latin typeface="Proxima Nova"/>
              </a:rPr>
              <a:t>гибридный поиск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80509"/>
            <a:ext cx="2331720" cy="13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62" b="0" i="0" dirty="0" err="1">
                <a:solidFill>
                  <a:srgbClr val="B9C0CA"/>
                </a:solidFill>
                <a:latin typeface="Proxima Nova"/>
              </a:rPr>
              <a:t>вектор</a:t>
            </a:r>
            <a:r>
              <a:rPr sz="862" b="0" i="0" dirty="0">
                <a:solidFill>
                  <a:srgbClr val="B9C0CA"/>
                </a:solidFill>
                <a:latin typeface="Proxima Nova"/>
              </a:rPr>
              <a:t> + BM25 + RRF; </a:t>
            </a:r>
            <a:r>
              <a:rPr sz="862" b="0" i="0" dirty="0" err="1">
                <a:solidFill>
                  <a:srgbClr val="B9C0CA"/>
                </a:solidFill>
                <a:latin typeface="Proxima Nova"/>
              </a:rPr>
              <a:t>сводка</a:t>
            </a:r>
            <a:r>
              <a:rPr sz="862" b="0" i="0" dirty="0">
                <a:solidFill>
                  <a:srgbClr val="B9C0CA"/>
                </a:solidFill>
                <a:latin typeface="Proxima Nova"/>
              </a:rPr>
              <a:t> LLM ~</a:t>
            </a:r>
            <a:r>
              <a:rPr lang="ru-RU" sz="862" b="0" i="0" dirty="0">
                <a:solidFill>
                  <a:srgbClr val="B9C0CA"/>
                </a:solidFill>
                <a:latin typeface="Proxima Nova"/>
              </a:rPr>
              <a:t>1</a:t>
            </a:r>
            <a:r>
              <a:rPr sz="862" b="0" i="0" dirty="0">
                <a:solidFill>
                  <a:srgbClr val="B9C0CA"/>
                </a:solidFill>
                <a:latin typeface="Proxima Nova"/>
              </a:rPr>
              <a:t>0–</a:t>
            </a:r>
            <a:r>
              <a:rPr lang="ru-RU" sz="862" b="0" i="0" dirty="0">
                <a:solidFill>
                  <a:srgbClr val="B9C0CA"/>
                </a:solidFill>
                <a:latin typeface="Proxima Nova"/>
              </a:rPr>
              <a:t>15</a:t>
            </a:r>
            <a:r>
              <a:rPr sz="862" b="0" i="0" dirty="0">
                <a:solidFill>
                  <a:srgbClr val="B9C0CA"/>
                </a:solidFill>
                <a:latin typeface="Proxima Nova"/>
              </a:rPr>
              <a:t> 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Соответствие требованиям кейса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090422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062990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Многопараметрические запросы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3350" y="108356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материал + процесс + условия + география + период — фильтры из вопроса + Cypher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556766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529334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Верификация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350" y="1549907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provenance до страницы, уверенность, дата извлечения, очередь needs_review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023110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95678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Отечественная / зарубежная практика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350" y="2016252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география у выводов и предприятий, разделение в ответах LLM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489454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2462022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Числовые ограничения и диапазоны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3350" y="2482595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Measurement: значение, диапазон, единица, условия («сульфаты ≤ 300 мг/л»)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955798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928366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Масштабируемость доменов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3350" y="29489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онтология расширяется без миграций; новые категории = папка корпуса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3422142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394710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Мультиязычность RU/EN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3350" y="341528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мультиязычные эмбеддинги, синонимы терминов, «ПВП» ≡ «flash furnace»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3861054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Экспорт результатов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3350" y="3888486"/>
            <a:ext cx="4800600" cy="14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 dirty="0">
                <a:solidFill>
                  <a:srgbClr val="5A6472"/>
                </a:solidFill>
                <a:latin typeface="Proxima Nova"/>
              </a:rPr>
              <a:t>Markdown в UI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4354830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327398"/>
            <a:ext cx="298322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8" b="1" i="0">
                <a:solidFill>
                  <a:srgbClr val="2A2D33"/>
                </a:solidFill>
                <a:latin typeface="Proxima Nova"/>
              </a:rPr>
              <a:t>RBAC, аудит — реализованы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350" y="4347972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8" b="0" i="0">
                <a:solidFill>
                  <a:srgbClr val="5A6472"/>
                </a:solidFill>
                <a:latin typeface="Proxima Nova"/>
              </a:rPr>
              <a:t>5 ролей, вкладка «Аудит», журнал запросов; уведомления — в road map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DA9CCD-318B-8F5E-0C90-B9C337345A45}"/>
              </a:ext>
            </a:extLst>
          </p:cNvPr>
          <p:cNvSpPr/>
          <p:nvPr/>
        </p:nvSpPr>
        <p:spPr>
          <a:xfrm>
            <a:off x="411480" y="3887209"/>
            <a:ext cx="288036" cy="288036"/>
          </a:xfrm>
          <a:prstGeom prst="ellipse">
            <a:avLst/>
          </a:prstGeom>
          <a:solidFill>
            <a:srgbClr val="530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Proxima Nova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40030"/>
            <a:ext cx="82981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A2D33"/>
                </a:solidFill>
                <a:latin typeface="Proxima Nova"/>
              </a:rPr>
              <a:t>Честные ограничения и road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97280"/>
            <a:ext cx="4114800" cy="36347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220" y="1268730"/>
            <a:ext cx="370332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25" b="1" i="0">
                <a:solidFill>
                  <a:srgbClr val="5A6472"/>
                </a:solidFill>
                <a:latin typeface="Proxima Nova"/>
              </a:rPr>
              <a:t>Ограничения сегодня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" y="1714500"/>
            <a:ext cx="3703320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>
                <a:solidFill>
                  <a:srgbClr val="2A2D33"/>
                </a:solidFill>
                <a:latin typeface="Proxima Nova"/>
              </a:rPr>
              <a:t>качество извлечения = качество LLM: ~0,4 % чанков модель не разобрала даже с ретраями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>
                <a:solidFill>
                  <a:srgbClr val="2A2D33"/>
                </a:solidFill>
                <a:latin typeface="Proxima Nova"/>
              </a:rPr>
              <a:t>извлечение — широтная выборка чанков (stride), не каждый чанк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>
                <a:solidFill>
                  <a:srgbClr val="2A2D33"/>
                </a:solidFill>
                <a:latin typeface="Proxima Nova"/>
              </a:rPr>
              <a:t>глубина ограничена бюджетом API: все категории покрыты широтным прогоном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>
                <a:solidFill>
                  <a:srgbClr val="2A2D33"/>
                </a:solidFill>
                <a:latin typeface="Proxima Nova"/>
              </a:rPr>
              <a:t>SUPPORTS/CONTRADICTS между выводами из текстов размечаются пока вручную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>
                <a:solidFill>
                  <a:srgbClr val="2A2D33"/>
                </a:solidFill>
                <a:latin typeface="Proxima Nova"/>
              </a:rPr>
              <a:t>дашборды для руководителей и уведомления — пока не реализованы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7730" y="1097280"/>
            <a:ext cx="4046220" cy="363474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03470" y="1268730"/>
            <a:ext cx="36347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25" b="1" i="0">
                <a:solidFill>
                  <a:srgbClr val="5302E0"/>
                </a:solidFill>
                <a:latin typeface="Proxima Nova"/>
              </a:rPr>
              <a:t>Road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3470" y="1714500"/>
            <a:ext cx="3634740" cy="2110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глубокое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извлечение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: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каждый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чанк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по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всему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корпусу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, а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не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выборка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автоматическая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разметка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противоречий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(CONTRADICTS) и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консенсуса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данные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с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датчиков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установок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как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новый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тип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источника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подписки-уведомления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на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новые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публикации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по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теме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дашборды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покрытия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по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направлениям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: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гидрометаллургия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,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экология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,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отходы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интеграция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с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внешними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базами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публикаций</a:t>
            </a:r>
            <a:r>
              <a:rPr sz="1012" b="0" i="0" dirty="0">
                <a:solidFill>
                  <a:srgbClr val="2A2D33"/>
                </a:solidFill>
                <a:latin typeface="Proxima Nova"/>
              </a:rPr>
              <a:t> и </a:t>
            </a:r>
            <a:r>
              <a:rPr sz="1012" b="0" i="0" dirty="0" err="1">
                <a:solidFill>
                  <a:srgbClr val="2A2D33"/>
                </a:solidFill>
                <a:latin typeface="Proxima Nova"/>
              </a:rPr>
              <a:t>патентов</a:t>
            </a:r>
            <a:endParaRPr sz="1012" b="0" i="0" dirty="0">
              <a:solidFill>
                <a:srgbClr val="2A2D33"/>
              </a:solidFill>
              <a:latin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1221</Words>
  <Application>Microsoft Office PowerPoint</Application>
  <PresentationFormat>On-screen Show (16:9)</PresentationFormat>
  <Paragraphs>201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Proxima Nova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Илья Иванов</cp:lastModifiedBy>
  <cp:revision>4</cp:revision>
  <dcterms:modified xsi:type="dcterms:W3CDTF">2026-07-04T23:49:17Z</dcterms:modified>
</cp:coreProperties>
</file>