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D33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 flipV="1">
            <a:off x="9761220" y="1234439"/>
            <a:ext cx="1028699" cy="571501"/>
          </a:xfrm>
          <a:prstGeom prst="line">
            <a:avLst/>
          </a:prstGeom>
          <a:ln w="15875">
            <a:solidFill>
              <a:srgbClr val="555C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>
            <a:off x="9761220" y="1805940"/>
            <a:ext cx="1577340" cy="525780"/>
          </a:xfrm>
          <a:prstGeom prst="line">
            <a:avLst/>
          </a:prstGeom>
          <a:ln w="15875">
            <a:solidFill>
              <a:srgbClr val="555C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9761220" y="1805940"/>
            <a:ext cx="397764" cy="1175004"/>
          </a:xfrm>
          <a:prstGeom prst="line">
            <a:avLst/>
          </a:prstGeom>
          <a:ln w="15875">
            <a:solidFill>
              <a:srgbClr val="555C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0789919" y="1234439"/>
            <a:ext cx="548641" cy="1097281"/>
          </a:xfrm>
          <a:prstGeom prst="line">
            <a:avLst/>
          </a:prstGeom>
          <a:ln w="15875">
            <a:solidFill>
              <a:srgbClr val="555C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 flipH="1">
            <a:off x="10158984" y="2331720"/>
            <a:ext cx="1179576" cy="649224"/>
          </a:xfrm>
          <a:prstGeom prst="line">
            <a:avLst/>
          </a:prstGeom>
          <a:ln w="15875">
            <a:solidFill>
              <a:srgbClr val="555C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H="1">
            <a:off x="11178540" y="2331720"/>
            <a:ext cx="160020" cy="1348740"/>
          </a:xfrm>
          <a:prstGeom prst="line">
            <a:avLst/>
          </a:prstGeom>
          <a:ln w="15875">
            <a:solidFill>
              <a:srgbClr val="555C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158984" y="2980944"/>
            <a:ext cx="1019556" cy="699516"/>
          </a:xfrm>
          <a:prstGeom prst="line">
            <a:avLst/>
          </a:prstGeom>
          <a:ln w="15875">
            <a:solidFill>
              <a:srgbClr val="555C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H="1">
            <a:off x="9464040" y="2980944"/>
            <a:ext cx="694944" cy="1179576"/>
          </a:xfrm>
          <a:prstGeom prst="line">
            <a:avLst/>
          </a:prstGeom>
          <a:ln w="15875">
            <a:solidFill>
              <a:srgbClr val="555C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1178540" y="3680460"/>
            <a:ext cx="507492" cy="781812"/>
          </a:xfrm>
          <a:prstGeom prst="line">
            <a:avLst/>
          </a:prstGeom>
          <a:ln w="15875">
            <a:solidFill>
              <a:srgbClr val="555C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H="1">
            <a:off x="10360152" y="3680460"/>
            <a:ext cx="818388" cy="1421892"/>
          </a:xfrm>
          <a:prstGeom prst="line">
            <a:avLst/>
          </a:prstGeom>
          <a:ln w="15875">
            <a:solidFill>
              <a:srgbClr val="555C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9464040" y="4160520"/>
            <a:ext cx="896112" cy="941832"/>
          </a:xfrm>
          <a:prstGeom prst="line">
            <a:avLst/>
          </a:prstGeom>
          <a:ln w="15875">
            <a:solidFill>
              <a:srgbClr val="555C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H="1">
            <a:off x="10360152" y="4462272"/>
            <a:ext cx="1325880" cy="640080"/>
          </a:xfrm>
          <a:prstGeom prst="line">
            <a:avLst/>
          </a:prstGeom>
          <a:ln w="15875">
            <a:solidFill>
              <a:srgbClr val="555C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9509760" y="1554480"/>
            <a:ext cx="502920" cy="502920"/>
          </a:xfrm>
          <a:prstGeom prst="ellipse">
            <a:avLst/>
          </a:prstGeom>
          <a:solidFill>
            <a:srgbClr val="C06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0607040" y="1051560"/>
            <a:ext cx="365760" cy="365760"/>
          </a:xfrm>
          <a:prstGeom prst="ellipse">
            <a:avLst/>
          </a:prstGeom>
          <a:solidFill>
            <a:srgbClr val="9AA3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109960" y="2103120"/>
            <a:ext cx="457200" cy="457200"/>
          </a:xfrm>
          <a:prstGeom prst="ellipse">
            <a:avLst/>
          </a:prstGeom>
          <a:solidFill>
            <a:srgbClr val="9AA3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66960" y="2788920"/>
            <a:ext cx="384048" cy="384048"/>
          </a:xfrm>
          <a:prstGeom prst="ellipse">
            <a:avLst/>
          </a:prstGeom>
          <a:solidFill>
            <a:srgbClr val="C06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927080" y="3429000"/>
            <a:ext cx="502920" cy="502920"/>
          </a:xfrm>
          <a:prstGeom prst="ellipse">
            <a:avLst/>
          </a:prstGeom>
          <a:solidFill>
            <a:srgbClr val="9AA3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281160" y="3977639"/>
            <a:ext cx="365760" cy="365760"/>
          </a:xfrm>
          <a:prstGeom prst="ellipse">
            <a:avLst/>
          </a:prstGeom>
          <a:solidFill>
            <a:srgbClr val="9AA3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1521440" y="4297680"/>
            <a:ext cx="329184" cy="329184"/>
          </a:xfrm>
          <a:prstGeom prst="ellipse">
            <a:avLst/>
          </a:prstGeom>
          <a:solidFill>
            <a:srgbClr val="C06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0149840" y="4892040"/>
            <a:ext cx="420624" cy="420624"/>
          </a:xfrm>
          <a:prstGeom prst="ellipse">
            <a:avLst/>
          </a:prstGeom>
          <a:solidFill>
            <a:srgbClr val="9AA3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1828800"/>
            <a:ext cx="78638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6000" b="1" i="0">
                <a:solidFill>
                  <a:srgbClr val="FFFFFF"/>
                </a:solidFill>
                <a:latin typeface="Cambria"/>
              </a:rPr>
              <a:t>Научный клубок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297180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0" i="0">
                <a:solidFill>
                  <a:srgbClr val="E8D5C4"/>
                </a:solidFill>
                <a:latin typeface="Calibri"/>
              </a:rPr>
              <a:t>Карта знаний R&amp;D · горно-металлургические исследования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3703320"/>
            <a:ext cx="80467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B9C0CA"/>
                </a:solidFill>
                <a:latin typeface="Calibri"/>
              </a:rPr>
              <a:t>GraphRAG: граф знаний (Neo4j) + гибридный семантический поиск + LLM-слой с цитатами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603504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8A929E"/>
                </a:solidFill>
                <a:latin typeface="Calibri"/>
              </a:rPr>
              <a:t>Кейс «Единая карта знаний R&amp;D» · июль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2A2D33"/>
                </a:solidFill>
                <a:latin typeface="Cambria"/>
              </a:rPr>
              <a:t>Проблема: знания R&amp;D рассеяны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5A6472"/>
                </a:solidFill>
                <a:latin typeface="Calibri"/>
              </a:rPr>
              <a:t>институциональная память живёт в отчётах, презентациях и личных архивах — и не переиспользуется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554480"/>
            <a:ext cx="3611880" cy="2103120"/>
          </a:xfrm>
          <a:prstGeom prst="roundRect">
            <a:avLst>
              <a:gd name="adj" fmla="val 8000"/>
            </a:avLst>
          </a:prstGeom>
          <a:solidFill>
            <a:srgbClr val="F6E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77240" y="1810512"/>
            <a:ext cx="457200" cy="457200"/>
          </a:xfrm>
          <a:prstGeom prst="ellipse">
            <a:avLst/>
          </a:prstGeom>
          <a:solidFill>
            <a:srgbClr val="C06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19" y="1828800"/>
            <a:ext cx="2560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2A2D33"/>
                </a:solidFill>
                <a:latin typeface="Cambria"/>
              </a:rPr>
              <a:t>Потеря памяти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423160"/>
            <a:ext cx="315468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0" i="0">
                <a:solidFill>
                  <a:srgbClr val="5A6472"/>
                </a:solidFill>
                <a:latin typeface="Calibri"/>
              </a:rPr>
              <a:t>методы обессоливания, циркуляция католита, распределение драгметаллов — в сотнях несвязанных файлов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554480"/>
            <a:ext cx="3611880" cy="2103120"/>
          </a:xfrm>
          <a:prstGeom prst="roundRect">
            <a:avLst>
              <a:gd name="adj" fmla="val 8000"/>
            </a:avLst>
          </a:prstGeom>
          <a:solidFill>
            <a:srgbClr val="EE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572000" y="1810512"/>
            <a:ext cx="457200" cy="457200"/>
          </a:xfrm>
          <a:prstGeom prst="ellipse">
            <a:avLst/>
          </a:prstGeom>
          <a:solidFill>
            <a:srgbClr val="C06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80" y="1828800"/>
            <a:ext cx="2560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2A2D33"/>
                </a:solidFill>
                <a:latin typeface="Cambria"/>
              </a:rPr>
              <a:t>Дублирование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2423160"/>
            <a:ext cx="315468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0" i="0">
                <a:solidFill>
                  <a:srgbClr val="5A6472"/>
                </a:solidFill>
                <a:latin typeface="Calibri"/>
              </a:rPr>
              <a:t>команды заново делают литобзоры по очистке шахтных вод и удалению SO₂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38160" y="1554480"/>
            <a:ext cx="3611880" cy="2103120"/>
          </a:xfrm>
          <a:prstGeom prst="roundRect">
            <a:avLst>
              <a:gd name="adj" fmla="val 8000"/>
            </a:avLst>
          </a:prstGeom>
          <a:solidFill>
            <a:srgbClr val="F6E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366760" y="1810512"/>
            <a:ext cx="457200" cy="457200"/>
          </a:xfrm>
          <a:prstGeom prst="ellipse">
            <a:avLst/>
          </a:prstGeom>
          <a:solidFill>
            <a:srgbClr val="C06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06840" y="1828800"/>
            <a:ext cx="2560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2A2D33"/>
                </a:solidFill>
                <a:latin typeface="Cambria"/>
              </a:rPr>
              <a:t>Нет связей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6760" y="2423160"/>
            <a:ext cx="315468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0" i="0">
                <a:solidFill>
                  <a:srgbClr val="5A6472"/>
                </a:solidFill>
                <a:latin typeface="Calibri"/>
              </a:rPr>
              <a:t>не найти связь «кучное выщелачивание в холодном климате» → «выход металла»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886200"/>
            <a:ext cx="3611880" cy="2103120"/>
          </a:xfrm>
          <a:prstGeom prst="roundRect">
            <a:avLst>
              <a:gd name="adj" fmla="val 8000"/>
            </a:avLst>
          </a:prstGeom>
          <a:solidFill>
            <a:srgbClr val="EE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77240" y="4142232"/>
            <a:ext cx="457200" cy="457200"/>
          </a:xfrm>
          <a:prstGeom prst="ellipse">
            <a:avLst/>
          </a:prstGeom>
          <a:solidFill>
            <a:srgbClr val="C06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19" y="4160520"/>
            <a:ext cx="2560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2A2D33"/>
                </a:solidFill>
                <a:latin typeface="Cambria"/>
              </a:rPr>
              <a:t>Медленные решения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4754880"/>
            <a:ext cx="315468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0" i="0">
                <a:solidFill>
                  <a:srgbClr val="5A6472"/>
                </a:solidFill>
                <a:latin typeface="Calibri"/>
              </a:rPr>
              <a:t>ответ про мировую практику подачи электролита = недели ручного поиска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43400" y="3886200"/>
            <a:ext cx="3611880" cy="2103120"/>
          </a:xfrm>
          <a:prstGeom prst="roundRect">
            <a:avLst>
              <a:gd name="adj" fmla="val 8000"/>
            </a:avLst>
          </a:prstGeom>
          <a:solidFill>
            <a:srgbClr val="F6E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572000" y="4142232"/>
            <a:ext cx="457200" cy="457200"/>
          </a:xfrm>
          <a:prstGeom prst="ellipse">
            <a:avLst/>
          </a:prstGeom>
          <a:solidFill>
            <a:srgbClr val="C06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4160520"/>
            <a:ext cx="2560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2A2D33"/>
                </a:solidFill>
                <a:latin typeface="Cambria"/>
              </a:rPr>
              <a:t>Противоречия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4754880"/>
            <a:ext cx="315468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0" i="0">
                <a:solidFill>
                  <a:srgbClr val="5A6472"/>
                </a:solidFill>
                <a:latin typeface="Calibri"/>
              </a:rPr>
              <a:t>нет верифицированной базы — конфликты интерпретаций (скорость циркуляции католита)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38160" y="3886200"/>
            <a:ext cx="3611880" cy="2103120"/>
          </a:xfrm>
          <a:prstGeom prst="roundRect">
            <a:avLst>
              <a:gd name="adj" fmla="val 8000"/>
            </a:avLst>
          </a:prstGeom>
          <a:solidFill>
            <a:srgbClr val="EE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366760" y="4142232"/>
            <a:ext cx="457200" cy="457200"/>
          </a:xfrm>
          <a:prstGeom prst="ellipse">
            <a:avLst/>
          </a:prstGeom>
          <a:solidFill>
            <a:srgbClr val="C06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06840" y="4160520"/>
            <a:ext cx="2560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2A2D33"/>
                </a:solidFill>
                <a:latin typeface="Cambria"/>
              </a:rPr>
              <a:t>Носители экспертизы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66760" y="4754880"/>
            <a:ext cx="315468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0" i="0">
                <a:solidFill>
                  <a:srgbClr val="5A6472"/>
                </a:solidFill>
                <a:latin typeface="Calibri"/>
              </a:rPr>
              <a:t>неясно, кто в организации уже работал с аналогичной задачей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2A2D33"/>
                </a:solidFill>
                <a:latin typeface="Cambria"/>
              </a:rPr>
              <a:t>Решение: GraphRAG — граф знаний + поиск + LLM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5A6472"/>
                </a:solidFill>
                <a:latin typeface="Calibri"/>
              </a:rPr>
              <a:t>три слоя над единым хранилищем Neo4j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508760"/>
            <a:ext cx="3703320" cy="3291840"/>
          </a:xfrm>
          <a:prstGeom prst="roundRect">
            <a:avLst>
              <a:gd name="adj" fmla="val 6000"/>
            </a:avLst>
          </a:prstGeom>
          <a:solidFill>
            <a:srgbClr val="EE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59" y="1783080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C0622B"/>
                </a:solidFill>
                <a:latin typeface="Cambria"/>
              </a:rPr>
              <a:t>Граф знаний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59" y="2212848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5A6472"/>
                </a:solidFill>
                <a:latin typeface="Calibri"/>
              </a:rPr>
              <a:t>скелет связей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2606040"/>
            <a:ext cx="320040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800"/>
              </a:spcAft>
            </a:pPr>
            <a:r>
              <a:rPr sz="1250" b="0" i="0">
                <a:solidFill>
                  <a:srgbClr val="2A2D33"/>
                </a:solidFill>
                <a:latin typeface="Calibri"/>
              </a:rPr>
              <a:t>13 типов узлов: материалы, процессы, оборудование, предприятия, измерения, выводы, эксперты</a:t>
            </a:r>
          </a:p>
          <a:p>
            <a:pPr algn="l">
              <a:lnSpc>
                <a:spcPct val="102000"/>
              </a:lnSpc>
              <a:spcAft>
                <a:spcPts val="800"/>
              </a:spcAft>
            </a:pPr>
            <a:r>
              <a:rPr sz="1250" b="0" i="0">
                <a:solidFill>
                  <a:srgbClr val="2A2D33"/>
                </a:solidFill>
                <a:latin typeface="Calibri"/>
              </a:rPr>
              <a:t>provenance каждого факта: документ, страница/слайд, модель, уверенность</a:t>
            </a:r>
          </a:p>
          <a:p>
            <a:pPr algn="l">
              <a:lnSpc>
                <a:spcPct val="102000"/>
              </a:lnSpc>
              <a:spcAft>
                <a:spcPts val="800"/>
              </a:spcAft>
            </a:pPr>
            <a:r>
              <a:rPr sz="1250" b="0" i="0">
                <a:solidFill>
                  <a:srgbClr val="2A2D33"/>
                </a:solidFill>
                <a:latin typeface="Calibri"/>
              </a:rPr>
              <a:t>RU/EN-синонимы: «ПВП» ≡ «flash furnace»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80559" y="1508760"/>
            <a:ext cx="3703320" cy="3291840"/>
          </a:xfrm>
          <a:prstGeom prst="roundRect">
            <a:avLst>
              <a:gd name="adj" fmla="val 6000"/>
            </a:avLst>
          </a:prstGeom>
          <a:solidFill>
            <a:srgbClr val="EE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79" y="1783080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C0622B"/>
                </a:solidFill>
                <a:latin typeface="Cambria"/>
              </a:rPr>
              <a:t>Гибридный поиск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79" y="2212848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5A6472"/>
                </a:solidFill>
                <a:latin typeface="Calibri"/>
              </a:rPr>
              <a:t>4 канала, слияние RRF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79" y="2606040"/>
            <a:ext cx="320040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800"/>
              </a:spcAft>
            </a:pPr>
            <a:r>
              <a:rPr sz="1250" b="0" i="0">
                <a:solidFill>
                  <a:srgbClr val="2A2D33"/>
                </a:solidFill>
                <a:latin typeface="Calibri"/>
              </a:rPr>
              <a:t>вектор (эмбеддинги RU/EN) — перефразировки; BM25 — марки и формулы: «12Х18Н10Т», «SO₂»</a:t>
            </a:r>
          </a:p>
          <a:p>
            <a:pPr algn="l">
              <a:lnSpc>
                <a:spcPct val="102000"/>
              </a:lnSpc>
              <a:spcAft>
                <a:spcPts val="800"/>
              </a:spcAft>
            </a:pPr>
            <a:r>
              <a:rPr sz="1250" b="0" i="0">
                <a:solidFill>
                  <a:srgbClr val="2A2D33"/>
                </a:solidFill>
                <a:latin typeface="Calibri"/>
              </a:rPr>
              <a:t>граф: документы, покрывающие несколько сущностей вопроса (рёбра MENTIONS)</a:t>
            </a:r>
          </a:p>
          <a:p>
            <a:pPr algn="l">
              <a:lnSpc>
                <a:spcPct val="102000"/>
              </a:lnSpc>
              <a:spcAft>
                <a:spcPts val="800"/>
              </a:spcAft>
            </a:pPr>
            <a:r>
              <a:rPr sz="1250" b="0" i="0">
                <a:solidFill>
                  <a:srgbClr val="2A2D33"/>
                </a:solidFill>
                <a:latin typeface="Calibri"/>
              </a:rPr>
              <a:t>измерения: числовые ограничения вопроса → интервалы значений, «мг/дм³» ≡ «мг/л»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12480" y="1508760"/>
            <a:ext cx="3703320" cy="3291840"/>
          </a:xfrm>
          <a:prstGeom prst="roundRect">
            <a:avLst>
              <a:gd name="adj" fmla="val 6000"/>
            </a:avLst>
          </a:prstGeom>
          <a:solidFill>
            <a:srgbClr val="EE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0" y="1783080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C0622B"/>
                </a:solidFill>
                <a:latin typeface="Cambria"/>
              </a:rPr>
              <a:t>LLM-слой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0" y="2212848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5A6472"/>
                </a:solidFill>
                <a:latin typeface="Calibri"/>
              </a:rPr>
              <a:t>вопрос → ответ с цитатами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0" y="2606040"/>
            <a:ext cx="320040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800"/>
              </a:spcAft>
            </a:pPr>
            <a:r>
              <a:rPr sz="1250" b="0" i="0">
                <a:solidFill>
                  <a:srgbClr val="2A2D33"/>
                </a:solidFill>
                <a:latin typeface="Calibri"/>
              </a:rPr>
              <a:t>разбор вопроса в фильтры («за 5 лет» → 2021–2026)</a:t>
            </a:r>
          </a:p>
          <a:p>
            <a:pPr algn="l">
              <a:lnSpc>
                <a:spcPct val="102000"/>
              </a:lnSpc>
              <a:spcAft>
                <a:spcPts val="800"/>
              </a:spcAft>
            </a:pPr>
            <a:r>
              <a:rPr sz="1250" b="0" i="0">
                <a:solidFill>
                  <a:srgbClr val="2A2D33"/>
                </a:solidFill>
                <a:latin typeface="Calibri"/>
              </a:rPr>
              <a:t>сводка, где каждое утверждение подкреплено [n]-цитатой</a:t>
            </a:r>
          </a:p>
          <a:p>
            <a:pPr algn="l">
              <a:lnSpc>
                <a:spcPct val="102000"/>
              </a:lnSpc>
              <a:spcAft>
                <a:spcPts val="800"/>
              </a:spcAft>
            </a:pPr>
            <a:r>
              <a:rPr sz="1250" b="0" i="0">
                <a:solidFill>
                  <a:srgbClr val="2A2D33"/>
                </a:solidFill>
                <a:latin typeface="Calibri"/>
              </a:rPr>
              <a:t>выделение расхождений источников и пробелов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5074920"/>
            <a:ext cx="5577840" cy="1234440"/>
          </a:xfrm>
          <a:prstGeom prst="roundRect">
            <a:avLst>
              <a:gd name="adj" fmla="val 8000"/>
            </a:avLst>
          </a:prstGeom>
          <a:solidFill>
            <a:srgbClr val="F6E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5257800"/>
            <a:ext cx="51206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C0622B"/>
                </a:solidFill>
                <a:latin typeface="Calibri"/>
              </a:rPr>
              <a:t>Инвариант 1 · </a:t>
            </a:r>
            <a:r>
              <a:rPr sz="1400" b="1" i="0">
                <a:solidFill>
                  <a:srgbClr val="2A2D33"/>
                </a:solidFill>
                <a:latin typeface="Calibri"/>
              </a:rPr>
              <a:t>«нет источника — нет факта»</a:t>
            </a:r>
          </a:p>
          <a:p>
            <a:pPr algn="l">
              <a:spcAft>
                <a:spcPts val="600"/>
              </a:spcAft>
            </a:pPr>
            <a:r>
              <a:rPr sz="1250" b="0" i="0">
                <a:solidFill>
                  <a:srgbClr val="5A6472"/>
                </a:solidFill>
                <a:latin typeface="Calibri"/>
              </a:rPr>
              <a:t>каждый факт в графе ссылается на документ и страницу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55080" y="5074920"/>
            <a:ext cx="5257800" cy="1234440"/>
          </a:xfrm>
          <a:prstGeom prst="roundRect">
            <a:avLst>
              <a:gd name="adj" fmla="val 8000"/>
            </a:avLst>
          </a:prstGeom>
          <a:solidFill>
            <a:srgbClr val="F6E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29400" y="5257800"/>
            <a:ext cx="48463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C0622B"/>
                </a:solidFill>
                <a:latin typeface="Calibri"/>
              </a:rPr>
              <a:t>Инвариант 2 · </a:t>
            </a:r>
            <a:r>
              <a:rPr sz="1400" b="1" i="0">
                <a:solidFill>
                  <a:srgbClr val="2A2D33"/>
                </a:solidFill>
                <a:latin typeface="Calibri"/>
              </a:rPr>
              <a:t>верификация</a:t>
            </a:r>
          </a:p>
          <a:p>
            <a:pPr algn="l">
              <a:spcAft>
                <a:spcPts val="600"/>
              </a:spcAft>
            </a:pPr>
            <a:r>
              <a:rPr sz="1250" b="0" i="0">
                <a:solidFill>
                  <a:srgbClr val="5A6472"/>
                </a:solidFill>
                <a:latin typeface="Calibri"/>
              </a:rPr>
              <a:t>новые сущности и выводы из текстов идут в очередь эксперта (needs_review)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2A2D33"/>
                </a:solidFill>
                <a:latin typeface="Cambria"/>
              </a:rPr>
              <a:t>Онтология предметной области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5A6472"/>
                </a:solidFill>
                <a:latin typeface="Calibri"/>
              </a:rPr>
              <a:t>13 типов узлов, ключевые связи — с provenance на рёбрах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1371600" cy="420624"/>
          </a:xfrm>
          <a:prstGeom prst="roundRect">
            <a:avLst>
              <a:gd name="adj" fmla="val 50000"/>
            </a:avLst>
          </a:prstGeom>
          <a:solidFill>
            <a:srgbClr val="EE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8288" bIns="18288"/>
          <a:lstStyle/>
          <a:p>
            <a:pPr algn="ctr"/>
            <a:r>
              <a:rPr sz="1200" b="1">
                <a:solidFill>
                  <a:srgbClr val="2A2D33"/>
                </a:solidFill>
                <a:latin typeface="Calibri"/>
              </a:rPr>
              <a:t>Material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29968" y="1600200"/>
            <a:ext cx="1371600" cy="420624"/>
          </a:xfrm>
          <a:prstGeom prst="roundRect">
            <a:avLst>
              <a:gd name="adj" fmla="val 50000"/>
            </a:avLst>
          </a:prstGeom>
          <a:solidFill>
            <a:srgbClr val="F6E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8288" bIns="18288"/>
          <a:lstStyle/>
          <a:p>
            <a:pPr algn="ctr"/>
            <a:r>
              <a:rPr sz="1200" b="1">
                <a:solidFill>
                  <a:srgbClr val="2A2D33"/>
                </a:solidFill>
                <a:latin typeface="Calibri"/>
              </a:rPr>
              <a:t>Process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511296" y="1600200"/>
            <a:ext cx="1371600" cy="420624"/>
          </a:xfrm>
          <a:prstGeom prst="roundRect">
            <a:avLst>
              <a:gd name="adj" fmla="val 50000"/>
            </a:avLst>
          </a:prstGeom>
          <a:solidFill>
            <a:srgbClr val="EE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8288" bIns="18288"/>
          <a:lstStyle/>
          <a:p>
            <a:pPr algn="ctr"/>
            <a:r>
              <a:rPr sz="1200" b="1">
                <a:solidFill>
                  <a:srgbClr val="2A2D33"/>
                </a:solidFill>
                <a:latin typeface="Calibri"/>
              </a:rPr>
              <a:t>Equipment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92624" y="1600200"/>
            <a:ext cx="1371600" cy="420624"/>
          </a:xfrm>
          <a:prstGeom prst="roundRect">
            <a:avLst>
              <a:gd name="adj" fmla="val 50000"/>
            </a:avLst>
          </a:prstGeom>
          <a:solidFill>
            <a:srgbClr val="F6E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8288" bIns="18288"/>
          <a:lstStyle/>
          <a:p>
            <a:pPr algn="ctr"/>
            <a:r>
              <a:rPr sz="1200" b="1">
                <a:solidFill>
                  <a:srgbClr val="2A2D33"/>
                </a:solidFill>
                <a:latin typeface="Calibri"/>
              </a:rPr>
              <a:t>Facility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167128"/>
            <a:ext cx="1371600" cy="420624"/>
          </a:xfrm>
          <a:prstGeom prst="roundRect">
            <a:avLst>
              <a:gd name="adj" fmla="val 50000"/>
            </a:avLst>
          </a:prstGeom>
          <a:solidFill>
            <a:srgbClr val="EE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8288" bIns="18288"/>
          <a:lstStyle/>
          <a:p>
            <a:pPr algn="ctr"/>
            <a:r>
              <a:rPr sz="1200" b="1">
                <a:solidFill>
                  <a:srgbClr val="2A2D33"/>
                </a:solidFill>
                <a:latin typeface="Calibri"/>
              </a:rPr>
              <a:t>Document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029968" y="2167128"/>
            <a:ext cx="1371600" cy="420624"/>
          </a:xfrm>
          <a:prstGeom prst="roundRect">
            <a:avLst>
              <a:gd name="adj" fmla="val 50000"/>
            </a:avLst>
          </a:prstGeom>
          <a:solidFill>
            <a:srgbClr val="F6E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8288" bIns="18288"/>
          <a:lstStyle/>
          <a:p>
            <a:pPr algn="ctr"/>
            <a:r>
              <a:rPr sz="1200" b="1">
                <a:solidFill>
                  <a:srgbClr val="2A2D33"/>
                </a:solidFill>
                <a:latin typeface="Calibri"/>
              </a:rPr>
              <a:t>Chunk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11296" y="2167128"/>
            <a:ext cx="1371600" cy="420624"/>
          </a:xfrm>
          <a:prstGeom prst="roundRect">
            <a:avLst>
              <a:gd name="adj" fmla="val 50000"/>
            </a:avLst>
          </a:prstGeom>
          <a:solidFill>
            <a:srgbClr val="EE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8288" bIns="18288"/>
          <a:lstStyle/>
          <a:p>
            <a:pPr algn="ctr"/>
            <a:r>
              <a:rPr sz="1200" b="1">
                <a:solidFill>
                  <a:srgbClr val="2A2D33"/>
                </a:solidFill>
                <a:latin typeface="Calibri"/>
              </a:rPr>
              <a:t>Property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992624" y="2167128"/>
            <a:ext cx="1371600" cy="420624"/>
          </a:xfrm>
          <a:prstGeom prst="roundRect">
            <a:avLst>
              <a:gd name="adj" fmla="val 50000"/>
            </a:avLst>
          </a:prstGeom>
          <a:solidFill>
            <a:srgbClr val="F6E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8288" bIns="18288"/>
          <a:lstStyle/>
          <a:p>
            <a:pPr algn="ctr"/>
            <a:r>
              <a:rPr sz="1200" b="1">
                <a:solidFill>
                  <a:srgbClr val="2A2D33"/>
                </a:solidFill>
                <a:latin typeface="Calibri"/>
              </a:rPr>
              <a:t>Measurement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734056"/>
            <a:ext cx="1371600" cy="420624"/>
          </a:xfrm>
          <a:prstGeom prst="roundRect">
            <a:avLst>
              <a:gd name="adj" fmla="val 50000"/>
            </a:avLst>
          </a:prstGeom>
          <a:solidFill>
            <a:srgbClr val="EE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8288" bIns="18288"/>
          <a:lstStyle/>
          <a:p>
            <a:pPr algn="ctr"/>
            <a:r>
              <a:rPr sz="1200" b="1">
                <a:solidFill>
                  <a:srgbClr val="2A2D33"/>
                </a:solidFill>
                <a:latin typeface="Calibri"/>
              </a:rPr>
              <a:t>Conclusion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029968" y="2734056"/>
            <a:ext cx="1371600" cy="420624"/>
          </a:xfrm>
          <a:prstGeom prst="roundRect">
            <a:avLst>
              <a:gd name="adj" fmla="val 50000"/>
            </a:avLst>
          </a:prstGeom>
          <a:solidFill>
            <a:srgbClr val="F6E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8288" bIns="18288"/>
          <a:lstStyle/>
          <a:p>
            <a:pPr algn="ctr"/>
            <a:r>
              <a:rPr sz="1200" b="1">
                <a:solidFill>
                  <a:srgbClr val="2A2D33"/>
                </a:solidFill>
                <a:latin typeface="Calibri"/>
              </a:rPr>
              <a:t>Experiment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11296" y="2734056"/>
            <a:ext cx="1371600" cy="420624"/>
          </a:xfrm>
          <a:prstGeom prst="roundRect">
            <a:avLst>
              <a:gd name="adj" fmla="val 50000"/>
            </a:avLst>
          </a:prstGeom>
          <a:solidFill>
            <a:srgbClr val="EE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8288" bIns="18288"/>
          <a:lstStyle/>
          <a:p>
            <a:pPr algn="ctr"/>
            <a:r>
              <a:rPr sz="1200" b="1">
                <a:solidFill>
                  <a:srgbClr val="2A2D33"/>
                </a:solidFill>
                <a:latin typeface="Calibri"/>
              </a:rPr>
              <a:t>Regime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992624" y="2734056"/>
            <a:ext cx="1371600" cy="420624"/>
          </a:xfrm>
          <a:prstGeom prst="roundRect">
            <a:avLst>
              <a:gd name="adj" fmla="val 50000"/>
            </a:avLst>
          </a:prstGeom>
          <a:solidFill>
            <a:srgbClr val="F6E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8288" bIns="18288"/>
          <a:lstStyle/>
          <a:p>
            <a:pPr algn="ctr"/>
            <a:r>
              <a:rPr sz="1200" b="1">
                <a:solidFill>
                  <a:srgbClr val="2A2D33"/>
                </a:solidFill>
                <a:latin typeface="Calibri"/>
              </a:rPr>
              <a:t>Person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300984"/>
            <a:ext cx="1371600" cy="420624"/>
          </a:xfrm>
          <a:prstGeom prst="roundRect">
            <a:avLst>
              <a:gd name="adj" fmla="val 50000"/>
            </a:avLst>
          </a:prstGeom>
          <a:solidFill>
            <a:srgbClr val="EE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8288" bIns="18288"/>
          <a:lstStyle/>
          <a:p>
            <a:pPr algn="ctr"/>
            <a:r>
              <a:rPr sz="1200" b="1">
                <a:solidFill>
                  <a:srgbClr val="2A2D33"/>
                </a:solidFill>
                <a:latin typeface="Calibri"/>
              </a:rPr>
              <a:t>TopicTag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4160520"/>
            <a:ext cx="548640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1" i="0">
                <a:solidFill>
                  <a:srgbClr val="2A2D33"/>
                </a:solidFill>
                <a:latin typeface="Calibri"/>
              </a:rPr>
              <a:t>Ключевые связи:</a:t>
            </a:r>
          </a:p>
          <a:p>
            <a:pPr algn="l">
              <a:spcAft>
                <a:spcPts val="700"/>
              </a:spcAft>
            </a:pPr>
            <a:r>
              <a:rPr sz="1250" b="0" i="0">
                <a:solidFill>
                  <a:srgbClr val="5A6472"/>
                </a:solidFill>
                <a:latin typeface="Calibri"/>
              </a:rPr>
              <a:t>Document —MENTIONS→ Material / Process / Equipment / Facility</a:t>
            </a:r>
          </a:p>
          <a:p>
            <a:pPr algn="l">
              <a:spcAft>
                <a:spcPts val="700"/>
              </a:spcAft>
            </a:pPr>
            <a:r>
              <a:rPr sz="1250" b="0" i="0">
                <a:solidFill>
                  <a:srgbClr val="5A6472"/>
                </a:solidFill>
                <a:latin typeface="Calibri"/>
              </a:rPr>
              <a:t>Document —REPORTS→ Measurement —OF_PROPERTY→ Property</a:t>
            </a:r>
          </a:p>
          <a:p>
            <a:pPr algn="l">
              <a:spcAft>
                <a:spcPts val="700"/>
              </a:spcAft>
            </a:pPr>
            <a:r>
              <a:rPr sz="1250" b="0" i="0">
                <a:solidFill>
                  <a:srgbClr val="5A6472"/>
                </a:solidFill>
                <a:latin typeface="Calibri"/>
              </a:rPr>
              <a:t>Conclusion —DESCRIBED_IN→ Document, —ABOUT→ сущность</a:t>
            </a:r>
          </a:p>
          <a:p>
            <a:pPr algn="l">
              <a:spcAft>
                <a:spcPts val="700"/>
              </a:spcAft>
            </a:pPr>
            <a:r>
              <a:rPr sz="1250" b="0" i="0">
                <a:solidFill>
                  <a:srgbClr val="5A6472"/>
                </a:solidFill>
                <a:latin typeface="Calibri"/>
              </a:rPr>
              <a:t>Document —AUTHORED_BY→ Person, —TAGGED→ TopicTag</a:t>
            </a:r>
          </a:p>
          <a:p>
            <a:pPr algn="l">
              <a:spcAft>
                <a:spcPts val="700"/>
              </a:spcAft>
            </a:pPr>
            <a:r>
              <a:rPr sz="1250" b="0" i="0">
                <a:solidFill>
                  <a:srgbClr val="5A6472"/>
                </a:solidFill>
                <a:latin typeface="Calibri"/>
              </a:rPr>
              <a:t>Measurement.conditions: параметр / оператор / диапазон («сульфаты ≤ 300 мг/л»)</a:t>
            </a:r>
          </a:p>
        </p:txBody>
      </p:sp>
      <p:cxnSp>
        <p:nvCxnSpPr>
          <p:cNvPr id="18" name="Connector 17"/>
          <p:cNvCxnSpPr/>
          <p:nvPr/>
        </p:nvCxnSpPr>
        <p:spPr>
          <a:xfrm flipH="1">
            <a:off x="7498079" y="1892808"/>
            <a:ext cx="1691641" cy="1188720"/>
          </a:xfrm>
          <a:prstGeom prst="line">
            <a:avLst/>
          </a:prstGeom>
          <a:ln w="12700">
            <a:solidFill>
              <a:srgbClr val="8A929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9189720" y="1892808"/>
            <a:ext cx="22860" cy="1645920"/>
          </a:xfrm>
          <a:prstGeom prst="line">
            <a:avLst/>
          </a:prstGeom>
          <a:ln w="12700">
            <a:solidFill>
              <a:srgbClr val="8A929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9189720" y="1892808"/>
            <a:ext cx="1874520" cy="1188720"/>
          </a:xfrm>
          <a:prstGeom prst="line">
            <a:avLst/>
          </a:prstGeom>
          <a:ln w="12700">
            <a:solidFill>
              <a:srgbClr val="8A929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1064240" y="3081528"/>
            <a:ext cx="68580" cy="1371599"/>
          </a:xfrm>
          <a:prstGeom prst="line">
            <a:avLst/>
          </a:prstGeom>
          <a:ln w="12700">
            <a:solidFill>
              <a:srgbClr val="8A929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V="1">
            <a:off x="8001000" y="1892808"/>
            <a:ext cx="1188720" cy="2834640"/>
          </a:xfrm>
          <a:prstGeom prst="line">
            <a:avLst/>
          </a:prstGeom>
          <a:ln w="12700">
            <a:solidFill>
              <a:srgbClr val="8A929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H="1" flipV="1">
            <a:off x="7498079" y="3081528"/>
            <a:ext cx="502921" cy="1645920"/>
          </a:xfrm>
          <a:prstGeom prst="line">
            <a:avLst/>
          </a:prstGeom>
          <a:ln w="12700">
            <a:solidFill>
              <a:srgbClr val="8A929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9189720" y="1892808"/>
            <a:ext cx="1783080" cy="91440"/>
          </a:xfrm>
          <a:prstGeom prst="line">
            <a:avLst/>
          </a:prstGeom>
          <a:ln w="12700">
            <a:solidFill>
              <a:srgbClr val="8A929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8503920" y="1645920"/>
            <a:ext cx="1371600" cy="493776"/>
          </a:xfrm>
          <a:prstGeom prst="roundRect">
            <a:avLst>
              <a:gd name="adj" fmla="val 50000"/>
            </a:avLst>
          </a:prstGeom>
          <a:solidFill>
            <a:srgbClr val="2A2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8288" bIns="18288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Document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858000" y="2834640"/>
            <a:ext cx="1280160" cy="493776"/>
          </a:xfrm>
          <a:prstGeom prst="roundRect">
            <a:avLst>
              <a:gd name="adj" fmla="val 50000"/>
            </a:avLst>
          </a:prstGeom>
          <a:solidFill>
            <a:srgbClr val="C06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8288" bIns="18288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Material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595360" y="3291840"/>
            <a:ext cx="1234440" cy="493776"/>
          </a:xfrm>
          <a:prstGeom prst="roundRect">
            <a:avLst>
              <a:gd name="adj" fmla="val 50000"/>
            </a:avLst>
          </a:prstGeom>
          <a:solidFill>
            <a:srgbClr val="C06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8288" bIns="18288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Process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332720" y="2834640"/>
            <a:ext cx="1463040" cy="493776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8288" bIns="18288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Measurement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315200" y="4480560"/>
            <a:ext cx="1371600" cy="493776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8288" bIns="18288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Conclusion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424160" y="1737360"/>
            <a:ext cx="1097280" cy="493776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8288" bIns="18288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Person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515600" y="4206240"/>
            <a:ext cx="1234440" cy="493776"/>
          </a:xfrm>
          <a:prstGeom prst="roundRect">
            <a:avLst>
              <a:gd name="adj" fmla="val 50000"/>
            </a:avLst>
          </a:prstGeom>
          <a:solidFill>
            <a:srgbClr val="8A92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8288" bIns="18288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Property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2A2D33"/>
                </a:solidFill>
                <a:latin typeface="Cambria"/>
              </a:rPr>
              <a:t>Конвейер: от папки с документами до ответа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5A6472"/>
                </a:solidFill>
                <a:latin typeface="Calibri"/>
              </a:rPr>
              <a:t>все шаги возобновляемы; LLM-провайдер подключаемый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2103120"/>
            <a:ext cx="1783080" cy="2286000"/>
          </a:xfrm>
          <a:prstGeom prst="roundRect">
            <a:avLst>
              <a:gd name="adj" fmla="val 9000"/>
            </a:avLst>
          </a:prstGeom>
          <a:solidFill>
            <a:srgbClr val="EE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9224" y="2286000"/>
            <a:ext cx="15087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C0622B"/>
                </a:solidFill>
                <a:latin typeface="Cambria"/>
              </a:rPr>
              <a:t>Корпус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" y="2880360"/>
            <a:ext cx="1536192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150" b="0" i="0">
                <a:solidFill>
                  <a:srgbClr val="2A2D33"/>
                </a:solidFill>
                <a:latin typeface="Calibri"/>
              </a:rPr>
              <a:t>PDF · DOCX · PPTX 4,5 ГБ, 1 522 документа, RU/EN, 2001–2026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286000" y="3127248"/>
            <a:ext cx="173736" cy="201168"/>
          </a:xfrm>
          <a:prstGeom prst="rightArrow">
            <a:avLst/>
          </a:prstGeom>
          <a:solidFill>
            <a:srgbClr val="C06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450591" y="2103120"/>
            <a:ext cx="1783080" cy="2286000"/>
          </a:xfrm>
          <a:prstGeom prst="roundRect">
            <a:avLst>
              <a:gd name="adj" fmla="val 9000"/>
            </a:avLst>
          </a:prstGeom>
          <a:solidFill>
            <a:srgbClr val="F6E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596896" y="2286000"/>
            <a:ext cx="15087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C0622B"/>
                </a:solidFill>
                <a:latin typeface="Cambria"/>
              </a:rPr>
              <a:t>skg ingest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78608" y="2880360"/>
            <a:ext cx="1536192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150" b="0" i="0">
                <a:solidFill>
                  <a:srgbClr val="2A2D33"/>
                </a:solidFill>
                <a:latin typeface="Calibri"/>
              </a:rPr>
              <a:t>текст с привязкой к страницам/слайдам → Document + Chunk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4233672" y="3127248"/>
            <a:ext cx="173736" cy="201168"/>
          </a:xfrm>
          <a:prstGeom prst="rightArrow">
            <a:avLst/>
          </a:prstGeom>
          <a:solidFill>
            <a:srgbClr val="C06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398264" y="2103120"/>
            <a:ext cx="1783080" cy="2286000"/>
          </a:xfrm>
          <a:prstGeom prst="roundRect">
            <a:avLst>
              <a:gd name="adj" fmla="val 9000"/>
            </a:avLst>
          </a:prstGeom>
          <a:solidFill>
            <a:srgbClr val="EE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44568" y="2286000"/>
            <a:ext cx="15087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C0622B"/>
                </a:solidFill>
                <a:latin typeface="Cambria"/>
              </a:rPr>
              <a:t>skg embed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26279" y="2880360"/>
            <a:ext cx="1536192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150" b="0" i="0">
                <a:solidFill>
                  <a:srgbClr val="2A2D33"/>
                </a:solidFill>
                <a:latin typeface="Calibri"/>
              </a:rPr>
              <a:t>локальные эмбеддинги (fastembed ONNX, RU/EN), векторный индекс + BM25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6181344" y="3127248"/>
            <a:ext cx="173736" cy="201168"/>
          </a:xfrm>
          <a:prstGeom prst="rightArrow">
            <a:avLst/>
          </a:prstGeom>
          <a:solidFill>
            <a:srgbClr val="C06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345936" y="2103120"/>
            <a:ext cx="1783080" cy="2286000"/>
          </a:xfrm>
          <a:prstGeom prst="roundRect">
            <a:avLst>
              <a:gd name="adj" fmla="val 9000"/>
            </a:avLst>
          </a:prstGeom>
          <a:solidFill>
            <a:srgbClr val="F6E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0" y="2286000"/>
            <a:ext cx="15087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C0622B"/>
                </a:solidFill>
                <a:latin typeface="Cambria"/>
              </a:rPr>
              <a:t>skg extract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73951" y="2880360"/>
            <a:ext cx="1536192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150" b="0" i="0">
                <a:solidFill>
                  <a:srgbClr val="2A2D33"/>
                </a:solidFill>
                <a:latin typeface="Calibri"/>
              </a:rPr>
              <a:t>LLM по онтологии (Yandex AI Studio), нормализация, needs_review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8129015" y="3127248"/>
            <a:ext cx="173736" cy="201168"/>
          </a:xfrm>
          <a:prstGeom prst="rightArrow">
            <a:avLst/>
          </a:prstGeom>
          <a:solidFill>
            <a:srgbClr val="C06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293608" y="2103120"/>
            <a:ext cx="1783080" cy="2286000"/>
          </a:xfrm>
          <a:prstGeom prst="roundRect">
            <a:avLst>
              <a:gd name="adj" fmla="val 9000"/>
            </a:avLst>
          </a:prstGeom>
          <a:solidFill>
            <a:srgbClr val="EE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39912" y="2286000"/>
            <a:ext cx="15087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C0622B"/>
                </a:solidFill>
                <a:latin typeface="Cambria"/>
              </a:rPr>
              <a:t>Слой запросов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21624" y="2880360"/>
            <a:ext cx="1536192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150" b="0" i="0">
                <a:solidFill>
                  <a:srgbClr val="2A2D33"/>
                </a:solidFill>
                <a:latin typeface="Calibri"/>
              </a:rPr>
              <a:t>вопрос → фильтры → гибридный поиск → сводка с цитатами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10076688" y="3127248"/>
            <a:ext cx="173736" cy="201168"/>
          </a:xfrm>
          <a:prstGeom prst="rightArrow">
            <a:avLst/>
          </a:prstGeom>
          <a:solidFill>
            <a:srgbClr val="C06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0241280" y="2103120"/>
            <a:ext cx="1783080" cy="2286000"/>
          </a:xfrm>
          <a:prstGeom prst="roundRect">
            <a:avLst>
              <a:gd name="adj" fmla="val 9000"/>
            </a:avLst>
          </a:prstGeom>
          <a:solidFill>
            <a:srgbClr val="F6E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387584" y="2286000"/>
            <a:ext cx="15087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C0622B"/>
                </a:solidFill>
                <a:latin typeface="Cambria"/>
              </a:rPr>
              <a:t>Веб-UI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369296" y="2880360"/>
            <a:ext cx="1536192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150" b="0" i="0">
                <a:solidFill>
                  <a:srgbClr val="2A2D33"/>
                </a:solidFill>
                <a:latin typeface="Calibri"/>
              </a:rPr>
              <a:t>ответ и источники, граф, пробелы, экспорт Markdown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4892040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2A2D33"/>
                </a:solidFill>
                <a:latin typeface="Calibri"/>
              </a:rPr>
              <a:t>Хранилище — Neo4j: </a:t>
            </a:r>
            <a:r>
              <a:rPr sz="1400" b="0" i="0">
                <a:solidFill>
                  <a:srgbClr val="5A6472"/>
                </a:solidFill>
                <a:latin typeface="Calibri"/>
              </a:rPr>
              <a:t>граф, векторный индекс и полнотекстовый поиск в одной БД — без отдельного поискового движка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548640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2A2D33"/>
                </a:solidFill>
                <a:latin typeface="Calibri"/>
              </a:rPr>
              <a:t>Отказоустойчивость: </a:t>
            </a:r>
            <a:r>
              <a:rPr sz="1400" b="0" i="0">
                <a:solidFill>
                  <a:srgbClr val="5A6472"/>
                </a:solidFill>
                <a:latin typeface="Calibri"/>
              </a:rPr>
              <a:t>битые PDF и сканы не валят импорт (5 из 1 527 отклонено с диагностикой); ошибки LLM ретраятся, невалидный JSON — повторный запрос; упавшие чанки добираются повторным прогоном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2A2D33"/>
                </a:solidFill>
                <a:latin typeface="Cambria"/>
              </a:rPr>
              <a:t>Демо · вопрос из ТЗ → ответ с цитатами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5A6472"/>
                </a:solidFill>
                <a:latin typeface="Calibri"/>
              </a:rPr>
              <a:t>«какие решения циркуляции католита при электроэкстракции никеля описаны в мировой практике?»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7406640" cy="4663440"/>
          </a:xfrm>
          <a:prstGeom prst="roundRect">
            <a:avLst>
              <a:gd name="adj" fmla="val 5000"/>
            </a:avLst>
          </a:prstGeom>
          <a:solidFill>
            <a:srgbClr val="EE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685800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1300" b="0" i="0">
                <a:solidFill>
                  <a:srgbClr val="2A2D33"/>
                </a:solidFill>
                <a:latin typeface="Calibri"/>
              </a:rPr>
              <a:t>Применяются: разделение катодного и анодного пространства диафрагмой и регулирование подачи католита для поддержания перепада уровня между католитом и анолитом.</a:t>
            </a:r>
          </a:p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1300" b="0" i="0">
                <a:solidFill>
                  <a:srgbClr val="2A2D33"/>
                </a:solidFill>
                <a:latin typeface="Calibri"/>
              </a:rPr>
              <a:t>С ростом скорости от 0,5 до 4,9 л/мин шероховатость катодной меди снижается с 6,86 до 2,97 мкм </a:t>
            </a:r>
            <a:r>
              <a:rPr sz="1300" b="1" i="0">
                <a:solidFill>
                  <a:srgbClr val="C0622B"/>
                </a:solidFill>
                <a:latin typeface="Calibri"/>
              </a:rPr>
              <a:t>[2]</a:t>
            </a:r>
          </a:p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1300" b="0" i="0">
                <a:solidFill>
                  <a:srgbClr val="2A2D33"/>
                </a:solidFill>
                <a:latin typeface="Calibri"/>
              </a:rPr>
              <a:t>Контроль скорости — для положительного гидростатического напора в катодном мешке и снижения массопереноса ионов водорода </a:t>
            </a:r>
            <a:r>
              <a:rPr sz="1300" b="1" i="0">
                <a:solidFill>
                  <a:srgbClr val="C0622B"/>
                </a:solidFill>
                <a:latin typeface="Calibri"/>
              </a:rPr>
              <a:t>[4]</a:t>
            </a:r>
          </a:p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1300" b="0" i="0">
                <a:solidFill>
                  <a:srgbClr val="2A2D33"/>
                </a:solidFill>
                <a:latin typeface="Calibri"/>
              </a:rPr>
              <a:t>При плотности тока 250 А/м² скорость циркуляции — 25 дм³/А·ч </a:t>
            </a:r>
            <a:r>
              <a:rPr sz="1300" b="1" i="0">
                <a:solidFill>
                  <a:srgbClr val="C0622B"/>
                </a:solidFill>
                <a:latin typeface="Calibri"/>
              </a:rPr>
              <a:t>[5]</a:t>
            </a:r>
            <a:r>
              <a:rPr sz="1300" b="0" i="0">
                <a:solidFill>
                  <a:srgbClr val="2A2D33"/>
                </a:solidFill>
                <a:latin typeface="Calibri"/>
              </a:rPr>
              <a:t>;  типовая скорость 20–30 л/ч </a:t>
            </a:r>
            <a:r>
              <a:rPr sz="1300" b="1" i="0">
                <a:solidFill>
                  <a:srgbClr val="C0622B"/>
                </a:solidFill>
                <a:latin typeface="Calibri"/>
              </a:rPr>
              <a:t>[6]</a:t>
            </a:r>
          </a:p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1300" b="1" i="0">
                <a:solidFill>
                  <a:srgbClr val="2A2D33"/>
                </a:solidFill>
                <a:latin typeface="Calibri"/>
              </a:rPr>
              <a:t>Пробелы/что уточнить: </a:t>
            </a:r>
            <a:r>
              <a:rPr sz="1300" b="0" i="0">
                <a:solidFill>
                  <a:srgbClr val="5A6472"/>
                </a:solidFill>
                <a:latin typeface="Calibri"/>
              </a:rPr>
              <a:t>влияние скорости потока на эффективность электроэкстракции освещено слабо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83879" y="1600200"/>
            <a:ext cx="3474720" cy="1051560"/>
          </a:xfrm>
          <a:prstGeom prst="roundRect">
            <a:avLst>
              <a:gd name="adj" fmla="val 9000"/>
            </a:avLst>
          </a:prstGeom>
          <a:solidFill>
            <a:srgbClr val="F6E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0" y="1728216"/>
            <a:ext cx="3063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1" i="0">
                <a:solidFill>
                  <a:srgbClr val="2A2D33"/>
                </a:solidFill>
                <a:latin typeface="Calibri"/>
              </a:rPr>
              <a:t>Числа — точно из источника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0" y="2167128"/>
            <a:ext cx="30632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5A6472"/>
                </a:solidFill>
                <a:latin typeface="Calibri"/>
              </a:rPr>
              <a:t>концентрации и скорости не «сочиняются»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83879" y="2807208"/>
            <a:ext cx="3474720" cy="1051560"/>
          </a:xfrm>
          <a:prstGeom prst="roundRect">
            <a:avLst>
              <a:gd name="adj" fmla="val 9000"/>
            </a:avLst>
          </a:prstGeom>
          <a:solidFill>
            <a:srgbClr val="F6E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0" y="2935224"/>
            <a:ext cx="3063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1" i="0">
                <a:solidFill>
                  <a:srgbClr val="2A2D33"/>
                </a:solidFill>
                <a:latin typeface="Calibri"/>
              </a:rPr>
              <a:t>Клик по [n] — фрагмент и контекст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0" y="3374136"/>
            <a:ext cx="30632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5A6472"/>
                </a:solidFill>
                <a:latin typeface="Calibri"/>
              </a:rPr>
              <a:t>±2 соседних чанка, путь к файлу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83879" y="4014216"/>
            <a:ext cx="3474720" cy="1051560"/>
          </a:xfrm>
          <a:prstGeom prst="roundRect">
            <a:avLst>
              <a:gd name="adj" fmla="val 9000"/>
            </a:avLst>
          </a:prstGeom>
          <a:solidFill>
            <a:srgbClr val="F6E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0" y="4142232"/>
            <a:ext cx="3063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1" i="0">
                <a:solidFill>
                  <a:srgbClr val="2A2D33"/>
                </a:solidFill>
                <a:latin typeface="Calibri"/>
              </a:rPr>
              <a:t>Фильтры из вопроса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4581144"/>
            <a:ext cx="30632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5A6472"/>
                </a:solidFill>
                <a:latin typeface="Calibri"/>
              </a:rPr>
              <a:t>«за последние 5 лет» → 2021–2026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83879" y="5221224"/>
            <a:ext cx="3474720" cy="1051560"/>
          </a:xfrm>
          <a:prstGeom prst="roundRect">
            <a:avLst>
              <a:gd name="adj" fmla="val 9000"/>
            </a:avLst>
          </a:prstGeom>
          <a:solidFill>
            <a:srgbClr val="F6E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0" y="5349240"/>
            <a:ext cx="3063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1" i="0">
                <a:solidFill>
                  <a:srgbClr val="2A2D33"/>
                </a:solidFill>
                <a:latin typeface="Calibri"/>
              </a:rPr>
              <a:t>Экспорт в Markdown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5788152"/>
            <a:ext cx="30632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5A6472"/>
                </a:solidFill>
                <a:latin typeface="Calibri"/>
              </a:rPr>
              <a:t>готовый фрагмент для отчёта/ТЗ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2A2D33"/>
                </a:solidFill>
                <a:latin typeface="Cambria"/>
              </a:rPr>
              <a:t>Демо · граф, пробелы, очередь эксперта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5A6472"/>
                </a:solidFill>
                <a:latin typeface="Calibri"/>
              </a:rPr>
              <a:t>окрестность сущности · тепловая карта «материал × процесс» · needs_review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554480"/>
            <a:ext cx="5394960" cy="4754880"/>
          </a:xfrm>
          <a:prstGeom prst="roundRect">
            <a:avLst>
              <a:gd name="adj" fmla="val 5000"/>
            </a:avLst>
          </a:prstGeom>
          <a:solidFill>
            <a:srgbClr val="EE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755648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2A2D33"/>
                </a:solidFill>
                <a:latin typeface="Calibri"/>
              </a:rPr>
              <a:t>Граф: «электроэкстракция» — 92 узла, 135 связей</a:t>
            </a:r>
          </a:p>
        </p:txBody>
      </p:sp>
      <p:cxnSp>
        <p:nvCxnSpPr>
          <p:cNvPr id="6" name="Connector 5"/>
          <p:cNvCxnSpPr/>
          <p:nvPr/>
        </p:nvCxnSpPr>
        <p:spPr>
          <a:xfrm flipH="1" flipV="1">
            <a:off x="1463040" y="2697480"/>
            <a:ext cx="1920240" cy="822960"/>
          </a:xfrm>
          <a:prstGeom prst="line">
            <a:avLst/>
          </a:prstGeom>
          <a:ln w="12700">
            <a:solidFill>
              <a:srgbClr val="8A929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H="1">
            <a:off x="1600200" y="3520440"/>
            <a:ext cx="1783080" cy="1188720"/>
          </a:xfrm>
          <a:prstGeom prst="line">
            <a:avLst/>
          </a:prstGeom>
          <a:ln w="12700">
            <a:solidFill>
              <a:srgbClr val="8A929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V="1">
            <a:off x="3383280" y="2560320"/>
            <a:ext cx="1325880" cy="960120"/>
          </a:xfrm>
          <a:prstGeom prst="line">
            <a:avLst/>
          </a:prstGeom>
          <a:ln w="12700">
            <a:solidFill>
              <a:srgbClr val="8A929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3383280" y="3520440"/>
            <a:ext cx="1417320" cy="1554480"/>
          </a:xfrm>
          <a:prstGeom prst="line">
            <a:avLst/>
          </a:prstGeom>
          <a:ln w="12700">
            <a:solidFill>
              <a:srgbClr val="8A929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1325880" y="3520440"/>
            <a:ext cx="2057400" cy="182880"/>
          </a:xfrm>
          <a:prstGeom prst="line">
            <a:avLst/>
          </a:prstGeom>
          <a:ln w="12700">
            <a:solidFill>
              <a:srgbClr val="8A929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3383280" y="3520440"/>
            <a:ext cx="137160" cy="1965960"/>
          </a:xfrm>
          <a:prstGeom prst="line">
            <a:avLst/>
          </a:prstGeom>
          <a:ln w="12700">
            <a:solidFill>
              <a:srgbClr val="8A929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2468880" y="3291840"/>
            <a:ext cx="1828800" cy="457200"/>
          </a:xfrm>
          <a:prstGeom prst="roundRect">
            <a:avLst>
              <a:gd name="adj" fmla="val 50000"/>
            </a:avLst>
          </a:prstGeom>
          <a:solidFill>
            <a:srgbClr val="C06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8288" bIns="18288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электроэкстракция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2468880"/>
            <a:ext cx="1097280" cy="457200"/>
          </a:xfrm>
          <a:prstGeom prst="roundRect">
            <a:avLst>
              <a:gd name="adj" fmla="val 50000"/>
            </a:avLst>
          </a:prstGeom>
          <a:solidFill>
            <a:srgbClr val="2A2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8288" bIns="18288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никель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51560" y="4480560"/>
            <a:ext cx="1097280" cy="457200"/>
          </a:xfrm>
          <a:prstGeom prst="roundRect">
            <a:avLst>
              <a:gd name="adj" fmla="val 50000"/>
            </a:avLst>
          </a:prstGeom>
          <a:solidFill>
            <a:srgbClr val="2A2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8288" bIns="18288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католит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840480" y="2331720"/>
            <a:ext cx="1737360" cy="457200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8288" bIns="18288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диафрагменная ячейка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06240" y="4846320"/>
            <a:ext cx="1188720" cy="457200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8288" bIns="18288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Nikkelverk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" y="3474720"/>
            <a:ext cx="914400" cy="457200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8288" bIns="18288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медь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743200" y="5257800"/>
            <a:ext cx="1554480" cy="457200"/>
          </a:xfrm>
          <a:prstGeom prst="roundRect">
            <a:avLst>
              <a:gd name="adj" fmla="val 50000"/>
            </a:avLst>
          </a:prstGeom>
          <a:solidFill>
            <a:srgbClr val="8A92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8288" bIns="18288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Cvet. metally 2010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63640" y="1554480"/>
            <a:ext cx="5394960" cy="3200400"/>
          </a:xfrm>
          <a:prstGeom prst="roundRect">
            <a:avLst>
              <a:gd name="adj" fmla="val 5000"/>
            </a:avLst>
          </a:prstGeom>
          <a:solidFill>
            <a:srgbClr val="EE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37960" y="1755648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2A2D33"/>
                </a:solidFill>
                <a:latin typeface="Calibri"/>
              </a:rPr>
              <a:t>Пробелы: документов на пару «материал × процесс»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63840" y="214884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950" b="0" i="0">
                <a:solidFill>
                  <a:srgbClr val="5A6472"/>
                </a:solidFill>
                <a:latin typeface="Calibri"/>
              </a:rPr>
              <a:t>выщелач.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96528" y="214884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950" b="0" i="0">
                <a:solidFill>
                  <a:srgbClr val="5A6472"/>
                </a:solidFill>
                <a:latin typeface="Calibri"/>
              </a:rPr>
              <a:t>электроэкстр.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29216" y="214884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950" b="0" i="0">
                <a:solidFill>
                  <a:srgbClr val="5A6472"/>
                </a:solidFill>
                <a:latin typeface="Calibri"/>
              </a:rPr>
              <a:t>флотация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61904" y="214884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950" b="0" i="0">
                <a:solidFill>
                  <a:srgbClr val="5A6472"/>
                </a:solidFill>
                <a:latin typeface="Calibri"/>
              </a:rPr>
              <a:t>обжиг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37960" y="2487168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0" i="0">
                <a:solidFill>
                  <a:srgbClr val="5A6472"/>
                </a:solidFill>
                <a:latin typeface="Calibri"/>
              </a:rPr>
              <a:t>никель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882127" y="2450592"/>
            <a:ext cx="841248" cy="438912"/>
          </a:xfrm>
          <a:prstGeom prst="roundRect">
            <a:avLst>
              <a:gd name="adj" fmla="val 15000"/>
            </a:avLst>
          </a:prstGeom>
          <a:solidFill>
            <a:srgbClr val="F6E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0">
                <a:solidFill>
                  <a:srgbClr val="2A2D33"/>
                </a:solidFill>
              </a:rPr>
              <a:t>14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814815" y="2450592"/>
            <a:ext cx="841248" cy="438912"/>
          </a:xfrm>
          <a:prstGeom prst="roundRect">
            <a:avLst>
              <a:gd name="adj" fmla="val 15000"/>
            </a:avLst>
          </a:prstGeom>
          <a:solidFill>
            <a:srgbClr val="F6E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0">
                <a:solidFill>
                  <a:srgbClr val="2A2D33"/>
                </a:solidFill>
              </a:rPr>
              <a:t>15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747504" y="2450592"/>
            <a:ext cx="841248" cy="438912"/>
          </a:xfrm>
          <a:prstGeom prst="roundRect">
            <a:avLst>
              <a:gd name="adj" fmla="val 15000"/>
            </a:avLst>
          </a:prstGeom>
          <a:solidFill>
            <a:srgbClr val="F6E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0">
                <a:solidFill>
                  <a:srgbClr val="2A2D33"/>
                </a:solidFill>
              </a:rPr>
              <a:t>6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680192" y="2450592"/>
            <a:ext cx="841248" cy="438912"/>
          </a:xfrm>
          <a:prstGeom prst="roundRect">
            <a:avLst>
              <a:gd name="adj" fmla="val 15000"/>
            </a:avLst>
          </a:prstGeom>
          <a:solidFill>
            <a:srgbClr val="F6E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0">
                <a:solidFill>
                  <a:srgbClr val="2A2D33"/>
                </a:solidFill>
              </a:rPr>
              <a:t>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37960" y="2999232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0" i="0">
                <a:solidFill>
                  <a:srgbClr val="5A6472"/>
                </a:solidFill>
                <a:latin typeface="Calibri"/>
              </a:rPr>
              <a:t>медь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882127" y="2962656"/>
            <a:ext cx="841248" cy="438912"/>
          </a:xfrm>
          <a:prstGeom prst="roundRect">
            <a:avLst>
              <a:gd name="adj" fmla="val 15000"/>
            </a:avLst>
          </a:prstGeom>
          <a:solidFill>
            <a:srgbClr val="F6E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0">
                <a:solidFill>
                  <a:srgbClr val="2A2D33"/>
                </a:solidFill>
              </a:rPr>
              <a:t>11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814815" y="2962656"/>
            <a:ext cx="841248" cy="438912"/>
          </a:xfrm>
          <a:prstGeom prst="roundRect">
            <a:avLst>
              <a:gd name="adj" fmla="val 15000"/>
            </a:avLst>
          </a:prstGeom>
          <a:solidFill>
            <a:srgbClr val="F6E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0">
                <a:solidFill>
                  <a:srgbClr val="2A2D33"/>
                </a:solidFill>
              </a:rPr>
              <a:t>3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747504" y="2962656"/>
            <a:ext cx="841248" cy="438912"/>
          </a:xfrm>
          <a:prstGeom prst="roundRect">
            <a:avLst>
              <a:gd name="adj" fmla="val 15000"/>
            </a:avLst>
          </a:prstGeom>
          <a:solidFill>
            <a:srgbClr val="F6E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0">
                <a:solidFill>
                  <a:srgbClr val="2A2D33"/>
                </a:solidFill>
              </a:rPr>
              <a:t>8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0680192" y="2962656"/>
            <a:ext cx="841248" cy="438912"/>
          </a:xfrm>
          <a:prstGeom prst="roundRect">
            <a:avLst>
              <a:gd name="adj" fmla="val 15000"/>
            </a:avLst>
          </a:prstGeom>
          <a:solidFill>
            <a:srgbClr val="F6E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0">
                <a:solidFill>
                  <a:srgbClr val="2A2D33"/>
                </a:solidFill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37960" y="3511296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0" i="0">
                <a:solidFill>
                  <a:srgbClr val="5A6472"/>
                </a:solidFill>
                <a:latin typeface="Calibri"/>
              </a:rPr>
              <a:t>золото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882127" y="3474720"/>
            <a:ext cx="841248" cy="438912"/>
          </a:xfrm>
          <a:prstGeom prst="roundRect">
            <a:avLst>
              <a:gd name="adj" fmla="val 15000"/>
            </a:avLst>
          </a:prstGeom>
          <a:solidFill>
            <a:srgbClr val="F6E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0">
                <a:solidFill>
                  <a:srgbClr val="2A2D33"/>
                </a:solidFill>
              </a:rPr>
              <a:t>9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814815" y="3474720"/>
            <a:ext cx="841248" cy="438912"/>
          </a:xfrm>
          <a:prstGeom prst="roundRect">
            <a:avLst>
              <a:gd name="adj" fmla="val 15000"/>
            </a:avLst>
          </a:prstGeom>
          <a:solidFill>
            <a:srgbClr val="F3C9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B02818"/>
                </a:solidFill>
              </a:rPr>
              <a:t>0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747504" y="3474720"/>
            <a:ext cx="841248" cy="438912"/>
          </a:xfrm>
          <a:prstGeom prst="roundRect">
            <a:avLst>
              <a:gd name="adj" fmla="val 15000"/>
            </a:avLst>
          </a:prstGeom>
          <a:solidFill>
            <a:srgbClr val="F6E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0">
                <a:solidFill>
                  <a:srgbClr val="2A2D33"/>
                </a:solidFill>
              </a:rPr>
              <a:t>5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0680192" y="3474720"/>
            <a:ext cx="841248" cy="438912"/>
          </a:xfrm>
          <a:prstGeom prst="roundRect">
            <a:avLst>
              <a:gd name="adj" fmla="val 15000"/>
            </a:avLst>
          </a:prstGeom>
          <a:solidFill>
            <a:srgbClr val="F6E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0">
                <a:solidFill>
                  <a:srgbClr val="2A2D33"/>
                </a:solidFill>
              </a:rPr>
              <a:t>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37960" y="4023360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0" i="0">
                <a:solidFill>
                  <a:srgbClr val="5A6472"/>
                </a:solidFill>
                <a:latin typeface="Calibri"/>
              </a:rPr>
              <a:t>гипс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882127" y="3986784"/>
            <a:ext cx="841248" cy="438912"/>
          </a:xfrm>
          <a:prstGeom prst="roundRect">
            <a:avLst>
              <a:gd name="adj" fmla="val 15000"/>
            </a:avLst>
          </a:prstGeom>
          <a:solidFill>
            <a:srgbClr val="F6E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0">
                <a:solidFill>
                  <a:srgbClr val="2A2D33"/>
                </a:solidFill>
              </a:rPr>
              <a:t>4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814815" y="3986784"/>
            <a:ext cx="841248" cy="438912"/>
          </a:xfrm>
          <a:prstGeom prst="roundRect">
            <a:avLst>
              <a:gd name="adj" fmla="val 15000"/>
            </a:avLst>
          </a:prstGeom>
          <a:solidFill>
            <a:srgbClr val="F3C9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B02818"/>
                </a:solidFill>
              </a:rPr>
              <a:t>0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747504" y="3986784"/>
            <a:ext cx="841248" cy="438912"/>
          </a:xfrm>
          <a:prstGeom prst="roundRect">
            <a:avLst>
              <a:gd name="adj" fmla="val 15000"/>
            </a:avLst>
          </a:prstGeom>
          <a:solidFill>
            <a:srgbClr val="F3C9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B02818"/>
                </a:solidFill>
              </a:rPr>
              <a:t>0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0680192" y="3986784"/>
            <a:ext cx="841248" cy="438912"/>
          </a:xfrm>
          <a:prstGeom prst="roundRect">
            <a:avLst>
              <a:gd name="adj" fmla="val 15000"/>
            </a:avLst>
          </a:prstGeom>
          <a:solidFill>
            <a:srgbClr val="F6E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0">
                <a:solidFill>
                  <a:srgbClr val="2A2D33"/>
                </a:solidFill>
              </a:rPr>
              <a:t>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537960" y="448056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A6472"/>
                </a:solidFill>
                <a:latin typeface="Calibri"/>
              </a:rPr>
              <a:t>красные нули — неизученные комбинации → кандидаты на НИР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263640" y="4892040"/>
            <a:ext cx="5394960" cy="1417320"/>
          </a:xfrm>
          <a:prstGeom prst="roundRect">
            <a:avLst>
              <a:gd name="adj" fmla="val 8000"/>
            </a:avLst>
          </a:prstGeom>
          <a:solidFill>
            <a:srgbClr val="F6E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537960" y="5074920"/>
            <a:ext cx="49377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1" i="0">
                <a:solidFill>
                  <a:srgbClr val="2A2D33"/>
                </a:solidFill>
                <a:latin typeface="Calibri"/>
              </a:rPr>
              <a:t>Очередь эксперта: </a:t>
            </a:r>
            <a:r>
              <a:rPr sz="1250" b="0" i="0">
                <a:solidFill>
                  <a:srgbClr val="5A6472"/>
                </a:solidFill>
                <a:latin typeface="Calibri"/>
              </a:rPr>
              <a:t>все сущности и выводы, впервые извлечённые из текстов, помечены needs_review</a:t>
            </a:r>
          </a:p>
          <a:p>
            <a:pPr algn="l">
              <a:spcAft>
                <a:spcPts val="600"/>
              </a:spcAft>
            </a:pPr>
            <a:r>
              <a:rPr sz="1250" b="0" i="0">
                <a:solidFill>
                  <a:srgbClr val="5A6472"/>
                </a:solidFill>
                <a:latin typeface="Calibri"/>
              </a:rPr>
              <a:t>эксперт подтверждает или правит — дата и автор фиксируются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Cambria"/>
              </a:rPr>
              <a:t>Система в цифрах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32688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8A929E"/>
                </a:solidFill>
                <a:latin typeface="Calibri"/>
              </a:rPr>
              <a:t>реальный корпус кейса, обработан локально + Yandex AI Studio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3657600" cy="2103120"/>
          </a:xfrm>
          <a:prstGeom prst="roundRect">
            <a:avLst>
              <a:gd name="adj" fmla="val 8000"/>
            </a:avLst>
          </a:prstGeom>
          <a:solidFill>
            <a:srgbClr val="3539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59" y="1828800"/>
            <a:ext cx="3108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C0622B"/>
                </a:solidFill>
                <a:latin typeface="Cambria"/>
              </a:rPr>
              <a:t>1 522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59" y="2651760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документа импортировано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3063240"/>
            <a:ext cx="3108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B9C0CA"/>
                </a:solidFill>
                <a:latin typeface="Calibri"/>
              </a:rPr>
              <a:t>PDF/DOCX/PPTX · 5 категорий · 2001–2026 · RU/EN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34840" y="1600200"/>
            <a:ext cx="3657600" cy="2103120"/>
          </a:xfrm>
          <a:prstGeom prst="roundRect">
            <a:avLst>
              <a:gd name="adj" fmla="val 8000"/>
            </a:avLst>
          </a:prstGeom>
          <a:solidFill>
            <a:srgbClr val="3539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09159" y="1828800"/>
            <a:ext cx="3108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C0622B"/>
                </a:solidFill>
                <a:latin typeface="Cambria"/>
              </a:rPr>
              <a:t>290 508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09159" y="2651760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фрагментов в графе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09159" y="3063240"/>
            <a:ext cx="3108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B9C0CA"/>
                </a:solidFill>
                <a:latin typeface="Calibri"/>
              </a:rPr>
              <a:t>с привязкой к странице/слайду; 100 % с эмбеддингами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321040" y="1600200"/>
            <a:ext cx="3657600" cy="2103120"/>
          </a:xfrm>
          <a:prstGeom prst="roundRect">
            <a:avLst>
              <a:gd name="adj" fmla="val 8000"/>
            </a:avLst>
          </a:prstGeom>
          <a:solidFill>
            <a:srgbClr val="3539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0" y="1828800"/>
            <a:ext cx="3108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C0622B"/>
                </a:solidFill>
                <a:latin typeface="Cambria"/>
              </a:rPr>
              <a:t>74 100+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95360" y="2651760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измерений с условиями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95360" y="3063240"/>
            <a:ext cx="3108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B9C0CA"/>
                </a:solidFill>
                <a:latin typeface="Calibri"/>
              </a:rPr>
              <a:t>значение · единица · диапазон · условия процесса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977639"/>
            <a:ext cx="3657600" cy="2103120"/>
          </a:xfrm>
          <a:prstGeom prst="roundRect">
            <a:avLst>
              <a:gd name="adj" fmla="val 8000"/>
            </a:avLst>
          </a:prstGeom>
          <a:solidFill>
            <a:srgbClr val="3539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59" y="4206240"/>
            <a:ext cx="3108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C0622B"/>
                </a:solidFill>
                <a:latin typeface="Cambria"/>
              </a:rPr>
              <a:t>15 300+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59" y="5029200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выводов с географией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59" y="5440679"/>
            <a:ext cx="3108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B9C0CA"/>
                </a:solidFill>
                <a:latin typeface="Calibri"/>
              </a:rPr>
              <a:t>РФ/зарубежная практика, уверенность, источник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434840" y="3977639"/>
            <a:ext cx="3657600" cy="2103120"/>
          </a:xfrm>
          <a:prstGeom prst="roundRect">
            <a:avLst>
              <a:gd name="adj" fmla="val 8000"/>
            </a:avLst>
          </a:prstGeom>
          <a:solidFill>
            <a:srgbClr val="3539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09159" y="4206240"/>
            <a:ext cx="3108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C0622B"/>
                </a:solidFill>
                <a:latin typeface="Cambria"/>
              </a:rPr>
              <a:t>42 000+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09159" y="5029200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сущностей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09159" y="5440679"/>
            <a:ext cx="3108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B9C0CA"/>
                </a:solidFill>
                <a:latin typeface="Calibri"/>
              </a:rPr>
              <a:t>материалы · процессы · оборудование · предприятия · эксперты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321040" y="3977639"/>
            <a:ext cx="3657600" cy="2103120"/>
          </a:xfrm>
          <a:prstGeom prst="roundRect">
            <a:avLst>
              <a:gd name="adj" fmla="val 8000"/>
            </a:avLst>
          </a:prstGeom>
          <a:solidFill>
            <a:srgbClr val="3539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595360" y="4206240"/>
            <a:ext cx="3108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C0622B"/>
                </a:solidFill>
                <a:latin typeface="Cambria"/>
              </a:rPr>
              <a:t>~0,5 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95360" y="5029200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поиск, 4 канала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95360" y="5440679"/>
            <a:ext cx="3108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B9C0CA"/>
                </a:solidFill>
                <a:latin typeface="Calibri"/>
              </a:rPr>
              <a:t>вектор + BM25 + граф + измерения; сводка LLM ~20–40 с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2A2D33"/>
                </a:solidFill>
                <a:latin typeface="Cambria"/>
              </a:rPr>
              <a:t>Соответствие требованиям кейса</a:t>
            </a:r>
          </a:p>
        </p:txBody>
      </p:sp>
      <p:sp>
        <p:nvSpPr>
          <p:cNvPr id="3" name="Oval 2"/>
          <p:cNvSpPr/>
          <p:nvPr/>
        </p:nvSpPr>
        <p:spPr>
          <a:xfrm>
            <a:off x="548640" y="1453896"/>
            <a:ext cx="384048" cy="384048"/>
          </a:xfrm>
          <a:prstGeom prst="ellipse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1417320"/>
            <a:ext cx="397763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1" i="0">
                <a:solidFill>
                  <a:srgbClr val="2A2D33"/>
                </a:solidFill>
                <a:latin typeface="Calibri"/>
              </a:rPr>
              <a:t>Многопараметрические запросы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57800" y="1444752"/>
            <a:ext cx="6400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 i="0">
                <a:solidFill>
                  <a:srgbClr val="5A6472"/>
                </a:solidFill>
                <a:latin typeface="Calibri"/>
              </a:rPr>
              <a:t>материал + процесс + условия + география + период; графовый канал поиска (MENTIONS)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2075688"/>
            <a:ext cx="384048" cy="384048"/>
          </a:xfrm>
          <a:prstGeom prst="ellipse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2039112"/>
            <a:ext cx="397763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1" i="0">
                <a:solidFill>
                  <a:srgbClr val="2A2D33"/>
                </a:solidFill>
                <a:latin typeface="Calibri"/>
              </a:rPr>
              <a:t>Верификация и версии знаний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57800" y="2066543"/>
            <a:ext cx="6400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 i="0">
                <a:solidFill>
                  <a:srgbClr val="5A6472"/>
                </a:solidFill>
                <a:latin typeface="Calibri"/>
              </a:rPr>
              <a:t>provenance до страницы, уверенность, очередь needs_review; история изменений выводов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2697480"/>
            <a:ext cx="384048" cy="384048"/>
          </a:xfrm>
          <a:prstGeom prst="ellipse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660904"/>
            <a:ext cx="397763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1" i="0">
                <a:solidFill>
                  <a:srgbClr val="2A2D33"/>
                </a:solidFill>
                <a:latin typeface="Calibri"/>
              </a:rPr>
              <a:t>Отечественная / зарубежная практика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57800" y="2688336"/>
            <a:ext cx="6400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 i="0">
                <a:solidFill>
                  <a:srgbClr val="5A6472"/>
                </a:solidFill>
                <a:latin typeface="Calibri"/>
              </a:rPr>
              <a:t>география у выводов и предприятий, разделение в ответах LLM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3319272"/>
            <a:ext cx="384048" cy="384048"/>
          </a:xfrm>
          <a:prstGeom prst="ellipse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282696"/>
            <a:ext cx="397763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1" i="0">
                <a:solidFill>
                  <a:srgbClr val="2A2D33"/>
                </a:solidFill>
                <a:latin typeface="Calibri"/>
              </a:rPr>
              <a:t>Числовые ограничения и диапазоны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57800" y="3310127"/>
            <a:ext cx="6400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 i="0">
                <a:solidFill>
                  <a:srgbClr val="5A6472"/>
                </a:solidFill>
                <a:latin typeface="Calibri"/>
              </a:rPr>
              <a:t>извлечение и поиск: интервалы значений, нормализация единиц («мг/дм³» ≡ «мг/л»)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941064"/>
            <a:ext cx="384048" cy="384048"/>
          </a:xfrm>
          <a:prstGeom prst="ellipse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3904488"/>
            <a:ext cx="397763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1" i="0">
                <a:solidFill>
                  <a:srgbClr val="2A2D33"/>
                </a:solidFill>
                <a:latin typeface="Calibri"/>
              </a:rPr>
              <a:t>Масштабируемость доменов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57800" y="3931920"/>
            <a:ext cx="6400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 i="0">
                <a:solidFill>
                  <a:srgbClr val="5A6472"/>
                </a:solidFill>
                <a:latin typeface="Calibri"/>
              </a:rPr>
              <a:t>онтология расширяется без миграций; новые категории = папка корпуса</a:t>
            </a:r>
          </a:p>
        </p:txBody>
      </p:sp>
      <p:sp>
        <p:nvSpPr>
          <p:cNvPr id="18" name="Oval 17"/>
          <p:cNvSpPr/>
          <p:nvPr/>
        </p:nvSpPr>
        <p:spPr>
          <a:xfrm>
            <a:off x="548640" y="4562856"/>
            <a:ext cx="384048" cy="384048"/>
          </a:xfrm>
          <a:prstGeom prst="ellipse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4526280"/>
            <a:ext cx="397763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1" i="0">
                <a:solidFill>
                  <a:srgbClr val="2A2D33"/>
                </a:solidFill>
                <a:latin typeface="Calibri"/>
              </a:rPr>
              <a:t>Мультиязычность RU/EN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57800" y="4553712"/>
            <a:ext cx="6400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 i="0">
                <a:solidFill>
                  <a:srgbClr val="5A6472"/>
                </a:solidFill>
                <a:latin typeface="Calibri"/>
              </a:rPr>
              <a:t>мультиязычные эмбеддинги, синонимы терминов, «ПВП» ≡ «flash furnace»</a:t>
            </a:r>
          </a:p>
        </p:txBody>
      </p:sp>
      <p:sp>
        <p:nvSpPr>
          <p:cNvPr id="21" name="Oval 20"/>
          <p:cNvSpPr/>
          <p:nvPr/>
        </p:nvSpPr>
        <p:spPr>
          <a:xfrm>
            <a:off x="548640" y="5184648"/>
            <a:ext cx="384048" cy="384048"/>
          </a:xfrm>
          <a:prstGeom prst="ellipse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3000" y="5148072"/>
            <a:ext cx="397763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1" i="0">
                <a:solidFill>
                  <a:srgbClr val="2A2D33"/>
                </a:solidFill>
                <a:latin typeface="Calibri"/>
              </a:rPr>
              <a:t>RBAC и аудит действий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57800" y="5175504"/>
            <a:ext cx="6400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 i="0">
                <a:solidFill>
                  <a:srgbClr val="5A6472"/>
                </a:solidFill>
                <a:latin typeface="Calibri"/>
              </a:rPr>
              <a:t>5 ролей; внешний партнёр не видит внутренние категории; журнал запросов и просмотров</a:t>
            </a:r>
          </a:p>
        </p:txBody>
      </p:sp>
      <p:sp>
        <p:nvSpPr>
          <p:cNvPr id="24" name="Oval 23"/>
          <p:cNvSpPr/>
          <p:nvPr/>
        </p:nvSpPr>
        <p:spPr>
          <a:xfrm>
            <a:off x="548640" y="5806440"/>
            <a:ext cx="384048" cy="384048"/>
          </a:xfrm>
          <a:prstGeom prst="ellipse">
            <a:avLst/>
          </a:prstGeom>
          <a:solidFill>
            <a:srgbClr val="5A64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43000" y="5769864"/>
            <a:ext cx="397763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1" i="0">
                <a:solidFill>
                  <a:srgbClr val="2A2D33"/>
                </a:solidFill>
                <a:latin typeface="Calibri"/>
              </a:rPr>
              <a:t>Экспорт, уведомления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57800" y="5797296"/>
            <a:ext cx="6400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 i="0">
                <a:solidFill>
                  <a:srgbClr val="5A6472"/>
                </a:solidFill>
                <a:latin typeface="Calibri"/>
              </a:rPr>
              <a:t>Markdown в UI; PDF/JSON-LD и подписки на темы — в road map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2A2D33"/>
                </a:solidFill>
                <a:latin typeface="Cambria"/>
              </a:rPr>
              <a:t>Честные ограничения и road map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463040"/>
            <a:ext cx="5486400" cy="4846320"/>
          </a:xfrm>
          <a:prstGeom prst="roundRect">
            <a:avLst>
              <a:gd name="adj" fmla="val 6000"/>
            </a:avLst>
          </a:prstGeom>
          <a:solidFill>
            <a:srgbClr val="EE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691640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 i="0">
                <a:solidFill>
                  <a:srgbClr val="5A6472"/>
                </a:solidFill>
                <a:latin typeface="Cambria"/>
              </a:rPr>
              <a:t>Ограничения сегодня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286000"/>
            <a:ext cx="4937760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50" b="0" i="0">
                <a:solidFill>
                  <a:srgbClr val="2A2D33"/>
                </a:solidFill>
                <a:latin typeface="Calibri"/>
              </a:rPr>
              <a:t>качество извлечения = качество LLM: ~0,4 % чанков модель не разобрала даже с ретраями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50" b="0" i="0">
                <a:solidFill>
                  <a:srgbClr val="2A2D33"/>
                </a:solidFill>
                <a:latin typeface="Calibri"/>
              </a:rPr>
              <a:t>сканы без текстового слоя (5 документов) требуют OCR — не подключён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50" b="0" i="0">
                <a:solidFill>
                  <a:srgbClr val="2A2D33"/>
                </a:solidFill>
                <a:latin typeface="Calibri"/>
              </a:rPr>
              <a:t>извлечение сущностей прошло по приоритетным категориям; журнальные подшивки — по мере бюджета API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50" b="0" i="0">
                <a:solidFill>
                  <a:srgbClr val="2A2D33"/>
                </a:solidFill>
                <a:latin typeface="Calibri"/>
              </a:rPr>
              <a:t>SUPPORTS/CONTRADICTS между выводами из текстов размечаются пока вручную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50" b="0" i="0">
                <a:solidFill>
                  <a:srgbClr val="2A2D33"/>
                </a:solidFill>
                <a:latin typeface="Calibri"/>
              </a:rPr>
              <a:t>доступ разграничен по категориям документов; гриф на уровне отдельного документа — в road map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63640" y="1463040"/>
            <a:ext cx="5394960" cy="4846320"/>
          </a:xfrm>
          <a:prstGeom prst="roundRect">
            <a:avLst>
              <a:gd name="adj" fmla="val 6000"/>
            </a:avLst>
          </a:prstGeom>
          <a:solidFill>
            <a:srgbClr val="F6E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37960" y="1691640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 i="0">
                <a:solidFill>
                  <a:srgbClr val="C0622B"/>
                </a:solidFill>
                <a:latin typeface="Cambria"/>
              </a:rPr>
              <a:t>Road map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37960" y="2286000"/>
            <a:ext cx="4846320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50" b="0" i="0">
                <a:solidFill>
                  <a:srgbClr val="2A2D33"/>
                </a:solidFill>
                <a:latin typeface="Calibri"/>
              </a:rPr>
              <a:t>автоматическая разметка противоречий (CONTRADICTS) и консенсуса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50" b="0" i="0">
                <a:solidFill>
                  <a:srgbClr val="2A2D33"/>
                </a:solidFill>
                <a:latin typeface="Calibri"/>
              </a:rPr>
              <a:t>гриф доступа на уровне отдельного документа, SSO вместо токенов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50" b="0" i="0">
                <a:solidFill>
                  <a:srgbClr val="2A2D33"/>
                </a:solidFill>
                <a:latin typeface="Calibri"/>
              </a:rPr>
              <a:t>экспорт PDF и JSON-LD, подписки-уведомления на новые публикации по теме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50" b="0" i="0">
                <a:solidFill>
                  <a:srgbClr val="2A2D33"/>
                </a:solidFill>
                <a:latin typeface="Calibri"/>
              </a:rPr>
              <a:t>дашборды покрытия по направлениям: гидрометаллургия, экология, отходы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50" b="0" i="0">
                <a:solidFill>
                  <a:srgbClr val="2A2D33"/>
                </a:solidFill>
                <a:latin typeface="Calibri"/>
              </a:rPr>
              <a:t>OCR-слой для сканов, данные с датчиков установок как новый тип источника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